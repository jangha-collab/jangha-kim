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p:notesSz cx="7099300" cy="102346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75" autoAdjust="0"/>
    <p:restoredTop sz="94660"/>
  </p:normalViewPr>
  <p:slideViewPr>
    <p:cSldViewPr snapToGrid="0">
      <p:cViewPr varScale="1">
        <p:scale>
          <a:sx n="130" d="100"/>
          <a:sy n="130" d="100"/>
        </p:scale>
        <p:origin x="619" y="31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i="0" lang="ko-KR">
                <a:solidFill>
                  <a:srgbClr val="222222"/>
                </a:solidFill>
                <a:latin typeface="Noto Sans KR"/>
                <a:ea typeface="Noto Sans KR"/>
                <a:cs typeface="Noto Sans KR"/>
              </a:rPr>
              <a:t>고속도로순찰 업무 중 교통사고 부상 경찰관(명)</a:t>
            </a:r>
          </a:p>
        </c:rich>
      </c:tx>
      <c:layout/>
      <c:overlay val="0"/>
    </c:title>
    <c:autoTitleDeleted val="0"/>
    <c:plotArea>
      <c:barChart>
        <c:barDir val="col"/>
        <c:grouping val="clustered"/>
        <c:ser>
          <c:idx val="0"/>
          <c:order val="0"/>
          <c:tx>
            <c:strRef>
              <c:f>Sheet1!$B$1</c:f>
              <c:strCache>
                <c:ptCount val="1"/>
                <c:pt idx="0">
                  <c:v>부상 경찰관</c:v>
                </c:pt>
              </c:strCache>
            </c:strRef>
          </c:tx>
          <c:spPr>
            <a:solidFill>
              <a:srgbClr val="1F3A93"/>
            </a:solidFill>
          </c:spPr>
          <c:invertIfNegative val="0"/>
          <c:cat>
            <c:strRef>
              <c:f>Sheet1!$A$2:$A$6</c:f>
              <c:strCache>
                <c:ptCount val="5"/>
                <c:pt idx="0">
                  <c:v>2021</c:v>
                </c:pt>
                <c:pt idx="1">
                  <c:v>2022</c:v>
                </c:pt>
                <c:pt idx="2">
                  <c:v>2023</c:v>
                </c:pt>
                <c:pt idx="3">
                  <c:v>2024</c:v>
                </c:pt>
                <c:pt idx="4">
                  <c:v>2025</c:v>
                </c:pt>
              </c:strCache>
            </c:strRef>
          </c:cat>
          <c:val>
            <c:numRef>
              <c:f>Sheet1!$B$2:$B$6</c:f>
              <c:numCache>
                <c:formatCode>General</c:formatCode>
                <c:ptCount val="5"/>
                <c:pt idx="0">
                  <c:v>3</c:v>
                </c:pt>
                <c:pt idx="1">
                  <c:v>12</c:v>
                </c:pt>
                <c:pt idx="2">
                  <c:v>5</c:v>
                </c:pt>
                <c:pt idx="3">
                  <c:v>10</c:v>
                </c:pt>
                <c:pt idx="4">
                  <c:v>3</c:v>
                </c:pt>
              </c:numCache>
            </c:numRef>
          </c:val>
        </c:ser>
        <c:dLbls>
          <c:numFmt formatCode="0" sourceLinked="0"/>
          <c:txPr>
            <a:bodyPr/>
            <a:lstStyle/>
            <a:p>
              <a:pPr>
                <a:defRPr sz="1100">
                  <a:latin typeface="Noto Sans KR"/>
                  <a:ea typeface="Noto Sans KR"/>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FBFBF"/>
            </a:solidFill>
          </a:ln>
        </c:spPr>
        <c:txPr>
          <a:bodyPr/>
          <a:lstStyle/>
          <a:p>
            <a:pPr>
              <a:defRPr sz="1100">
                <a:ea typeface="Noto Sans KR"/>
              </a:defRPr>
            </a:pPr>
          </a:p>
        </c:txPr>
        <c:crossAx val="-2113994440"/>
        <c:crosses val="autoZero"/>
        <c:auto val="1"/>
        <c:lblAlgn val="ctr"/>
        <c:lblOffset val="100"/>
        <c:noMultiLvlLbl val="0"/>
      </c:catAx>
      <c:valAx>
        <c:axId val="-2113994440"/>
        <c:scaling>
          <c:max val="15.0"/>
        </c:scaling>
        <c:delete val="0"/>
        <c:axPos val="l"/>
        <c:majorGridlines>
          <c:spPr>
            <a:ln>
              <a:solidFill>
                <a:srgbClr val="E3E3E3"/>
              </a:solidFill>
            </a:ln>
          </c:spPr>
        </c:majorGridlines>
        <c:majorTickMark val="out"/>
        <c:minorTickMark val="none"/>
        <c:tickLblPos val="nextTo"/>
        <c:spPr>
          <a:ln>
            <a:noFill/>
          </a:ln>
        </c:spPr>
        <c:txPr>
          <a:bodyPr/>
          <a:lstStyle/>
          <a:p>
            <a:pPr>
              <a:defRPr sz="1000">
                <a:solidFill>
                  <a:srgbClr val="595959"/>
                </a:solidFill>
                <a:ea typeface="Noto Sans KR"/>
              </a:defRPr>
            </a:pPr>
          </a:p>
        </c:txPr>
        <c:crossAx val="-2068027336"/>
        <c:crosses val="autoZero"/>
      </c:valAx>
    </c:plotArea>
    <c:dispBlanksAs val="gap"/>
  </c:chart>
  <c:txPr>
    <a:bodyPr/>
    <a:lstStyle/>
    <a:p>
      <a:pPr>
        <a:defRPr sz="1100">
          <a:solidFill>
            <a:srgbClr val="222222"/>
          </a:solidFill>
          <a:latin typeface="Noto Sans KR"/>
          <a:ea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i="0" lang="ko-KR">
                <a:solidFill>
                  <a:srgbClr val="222222"/>
                </a:solidFill>
                <a:latin typeface="Noto Sans KR"/>
                <a:ea typeface="Noto Sans KR"/>
                <a:cs typeface="Noto Sans KR"/>
              </a:rPr>
              <a:t>고속도로 사고 치사율(%)</a:t>
            </a:r>
          </a:p>
        </c:rich>
      </c:tx>
      <c:layout/>
      <c:overlay val="0"/>
    </c:title>
    <c:autoTitleDeleted val="0"/>
    <c:plotArea>
      <c:barChart>
        <c:barDir val="col"/>
        <c:grouping val="clustered"/>
        <c:ser>
          <c:idx val="0"/>
          <c:order val="0"/>
          <c:tx>
            <c:strRef>
              <c:f>Sheet1!$B$1</c:f>
              <c:strCache>
                <c:ptCount val="1"/>
                <c:pt idx="0">
                  <c:v>치사율</c:v>
                </c:pt>
              </c:strCache>
            </c:strRef>
          </c:tx>
          <c:spPr>
            <a:solidFill>
              <a:srgbClr val="2E75B6"/>
            </a:solidFill>
          </c:spPr>
          <c:invertIfNegative val="0"/>
          <c:cat>
            <c:strRef>
              <c:f>Sheet1!$A$2:$A$3</c:f>
              <c:strCache>
                <c:ptCount val="2"/>
                <c:pt idx="0">
                  <c:v>일반사고</c:v>
                </c:pt>
                <c:pt idx="1">
                  <c:v>2차사고</c:v>
                </c:pt>
              </c:strCache>
            </c:strRef>
          </c:cat>
          <c:val>
            <c:numRef>
              <c:f>Sheet1!$B$2:$B$3</c:f>
              <c:numCache>
                <c:formatCode>General</c:formatCode>
                <c:ptCount val="2"/>
                <c:pt idx="0">
                  <c:v>8.4</c:v>
                </c:pt>
                <c:pt idx="1">
                  <c:v>54.3</c:v>
                </c:pt>
              </c:numCache>
            </c:numRef>
          </c:val>
        </c:ser>
        <c:dLbls>
          <c:numFmt formatCode="0.0" sourceLinked="0"/>
          <c:txPr>
            <a:bodyPr/>
            <a:lstStyle/>
            <a:p>
              <a:pPr>
                <a:defRPr sz="1100">
                  <a:latin typeface="Noto Sans KR"/>
                  <a:ea typeface="Noto Sans KR"/>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FBFBF"/>
            </a:solidFill>
          </a:ln>
        </c:spPr>
        <c:txPr>
          <a:bodyPr/>
          <a:lstStyle/>
          <a:p>
            <a:pPr>
              <a:defRPr sz="1100">
                <a:ea typeface="Noto Sans KR"/>
              </a:defRPr>
            </a:pPr>
          </a:p>
        </c:txPr>
        <c:crossAx val="-2113994440"/>
        <c:crosses val="autoZero"/>
        <c:auto val="1"/>
        <c:lblAlgn val="ctr"/>
        <c:lblOffset val="100"/>
        <c:noMultiLvlLbl val="0"/>
      </c:catAx>
      <c:valAx>
        <c:axId val="-2113994440"/>
        <c:scaling>
          <c:max val="65.0"/>
        </c:scaling>
        <c:delete val="0"/>
        <c:axPos val="l"/>
        <c:majorGridlines>
          <c:spPr>
            <a:ln>
              <a:solidFill>
                <a:srgbClr val="E3E3E3"/>
              </a:solidFill>
            </a:ln>
          </c:spPr>
        </c:majorGridlines>
        <c:majorTickMark val="out"/>
        <c:minorTickMark val="none"/>
        <c:tickLblPos val="nextTo"/>
        <c:spPr>
          <a:ln>
            <a:noFill/>
          </a:ln>
        </c:spPr>
        <c:txPr>
          <a:bodyPr/>
          <a:lstStyle/>
          <a:p>
            <a:pPr>
              <a:defRPr sz="1000">
                <a:solidFill>
                  <a:srgbClr val="595959"/>
                </a:solidFill>
                <a:ea typeface="Noto Sans KR"/>
              </a:defRPr>
            </a:pPr>
          </a:p>
        </c:txPr>
        <c:crossAx val="-2068027336"/>
        <c:crosses val="autoZero"/>
      </c:valAx>
    </c:plotArea>
    <c:dispBlanksAs val="gap"/>
  </c:chart>
  <c:txPr>
    <a:bodyPr/>
    <a:lstStyle/>
    <a:p>
      <a:pPr>
        <a:defRPr sz="1100">
          <a:solidFill>
            <a:srgbClr val="222222"/>
          </a:solidFill>
          <a:latin typeface="Noto Sans KR"/>
          <a:ea typeface="Noto Sans K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i="0" lang="ko-KR">
                <a:solidFill>
                  <a:srgbClr val="222222"/>
                </a:solidFill>
                <a:latin typeface="Noto Sans KR"/>
                <a:ea typeface="Noto Sans KR"/>
                <a:cs typeface="Noto Sans KR"/>
              </a:rPr>
              <a:t>사업 매출과 영업손익(억 원)</a:t>
            </a:r>
          </a:p>
        </c:rich>
      </c:tx>
      <c:layout/>
      <c:overlay val="0"/>
    </c:title>
    <c:autoTitleDeleted val="0"/>
    <c:plotArea>
      <c:barChart>
        <c:barDir val="col"/>
        <c:grouping val="clustered"/>
        <c:ser>
          <c:idx val="0"/>
          <c:order val="0"/>
          <c:tx>
            <c:strRef>
              <c:f>Sheet1!$B$1</c:f>
              <c:strCache>
                <c:ptCount val="1"/>
                <c:pt idx="0">
                  <c:v>사업 매출</c:v>
                </c:pt>
              </c:strCache>
            </c:strRef>
          </c:tx>
          <c:spPr>
            <a:solidFill>
              <a:srgbClr val="1F3A93"/>
            </a:solidFill>
          </c:spPr>
          <c:invertIfNegative val="0"/>
          <c:cat>
            <c:strRef>
              <c:f>Sheet1!$A$2:$A$5</c:f>
              <c:strCache>
                <c:ptCount val="4"/>
                <c:pt idx="0">
                  <c:v>2027</c:v>
                </c:pt>
                <c:pt idx="1">
                  <c:v>2028</c:v>
                </c:pt>
                <c:pt idx="2">
                  <c:v>2029</c:v>
                </c:pt>
                <c:pt idx="3">
                  <c:v>2030</c:v>
                </c:pt>
              </c:strCache>
            </c:strRef>
          </c:cat>
          <c:val>
            <c:numRef>
              <c:f>Sheet1!$B$2:$B$5</c:f>
              <c:numCache>
                <c:formatCode>General</c:formatCode>
                <c:ptCount val="4"/>
                <c:pt idx="0">
                  <c:v>3.0</c:v>
                </c:pt>
                <c:pt idx="1">
                  <c:v>5.8</c:v>
                </c:pt>
                <c:pt idx="2">
                  <c:v>21.0</c:v>
                </c:pt>
                <c:pt idx="3">
                  <c:v>39.0</c:v>
                </c:pt>
              </c:numCache>
            </c:numRef>
          </c:val>
        </c:ser>
        <c:ser>
          <c:idx val="1"/>
          <c:order val="1"/>
          <c:tx>
            <c:strRef>
              <c:f>Sheet1!$C$1</c:f>
              <c:strCache>
                <c:ptCount val="1"/>
                <c:pt idx="0">
                  <c:v>영업손익</c:v>
                </c:pt>
              </c:strCache>
            </c:strRef>
          </c:tx>
          <c:spPr>
            <a:solidFill>
              <a:srgbClr val="2E75B6"/>
            </a:solidFill>
          </c:spPr>
          <c:invertIfNegative val="0"/>
          <c:cat>
            <c:strRef>
              <c:f>Sheet1!$A$2:$A$5</c:f>
              <c:strCache>
                <c:ptCount val="4"/>
                <c:pt idx="0">
                  <c:v>2027</c:v>
                </c:pt>
                <c:pt idx="1">
                  <c:v>2028</c:v>
                </c:pt>
                <c:pt idx="2">
                  <c:v>2029</c:v>
                </c:pt>
                <c:pt idx="3">
                  <c:v>2030</c:v>
                </c:pt>
              </c:strCache>
            </c:strRef>
          </c:cat>
          <c:val>
            <c:numRef>
              <c:f>Sheet1!$C$2:$C$5</c:f>
              <c:numCache>
                <c:formatCode>General</c:formatCode>
                <c:ptCount val="4"/>
                <c:pt idx="0">
                  <c:v>-0.8</c:v>
                </c:pt>
                <c:pt idx="1">
                  <c:v>0.6</c:v>
                </c:pt>
                <c:pt idx="2">
                  <c:v>6.0</c:v>
                </c:pt>
                <c:pt idx="3">
                  <c:v>12.5</c:v>
                </c:pt>
              </c:numCache>
            </c:numRef>
          </c:val>
        </c:ser>
        <c:dLbls>
          <c:numFmt formatCode="0.0" sourceLinked="0"/>
          <c:txPr>
            <a:bodyPr/>
            <a:lstStyle/>
            <a:p>
              <a:pPr>
                <a:defRPr sz="1100">
                  <a:latin typeface="Noto Sans KR"/>
                  <a:ea typeface="Noto Sans KR"/>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FBFBF"/>
            </a:solidFill>
          </a:ln>
        </c:spPr>
        <c:txPr>
          <a:bodyPr/>
          <a:lstStyle/>
          <a:p>
            <a:pPr>
              <a:defRPr sz="1100">
                <a:ea typeface="Noto Sans KR"/>
              </a:defRPr>
            </a:pPr>
          </a:p>
        </c:txPr>
        <c:crossAx val="-2113994440"/>
        <c:crosses val="autoZero"/>
        <c:auto val="1"/>
        <c:lblAlgn val="ctr"/>
        <c:lblOffset val="100"/>
        <c:noMultiLvlLbl val="0"/>
      </c:catAx>
      <c:valAx>
        <c:axId val="-2113994440"/>
        <c:scaling>
          <c:max val="45.0"/>
        </c:scaling>
        <c:delete val="0"/>
        <c:axPos val="l"/>
        <c:majorGridlines>
          <c:spPr>
            <a:ln>
              <a:solidFill>
                <a:srgbClr val="E3E3E3"/>
              </a:solidFill>
            </a:ln>
          </c:spPr>
        </c:majorGridlines>
        <c:majorTickMark val="out"/>
        <c:minorTickMark val="none"/>
        <c:tickLblPos val="nextTo"/>
        <c:spPr>
          <a:ln>
            <a:noFill/>
          </a:ln>
        </c:spPr>
        <c:txPr>
          <a:bodyPr/>
          <a:lstStyle/>
          <a:p>
            <a:pPr>
              <a:defRPr sz="1000">
                <a:solidFill>
                  <a:srgbClr val="595959"/>
                </a:solidFill>
                <a:ea typeface="Noto Sans KR"/>
              </a:defRPr>
            </a:pPr>
          </a:p>
        </c:txPr>
        <c:crossAx val="-2068027336"/>
        <c:crosses val="autoZero"/>
      </c:valAx>
    </c:plotArea>
    <c:legend>
      <c:legendPos val="b"/>
      <c:overlay val="0"/>
    </c:legend>
    <c:dispBlanksAs val="gap"/>
  </c:chart>
  <c:txPr>
    <a:bodyPr/>
    <a:lstStyle/>
    <a:p>
      <a:pPr>
        <a:defRPr sz="1100">
          <a:solidFill>
            <a:srgbClr val="222222"/>
          </a:solidFill>
          <a:latin typeface="Noto Sans KR"/>
          <a:ea typeface="Noto Sans K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i="0" lang="ko-KR">
                <a:solidFill>
                  <a:srgbClr val="222222"/>
                </a:solidFill>
                <a:latin typeface="Noto Sans KR"/>
                <a:ea typeface="Noto Sans KR"/>
                <a:cs typeface="Noto Sans KR"/>
              </a:rPr>
              <a:t>비목별 예산(억 원)</a:t>
            </a:r>
          </a:p>
        </c:rich>
      </c:tx>
      <c:layout/>
      <c:overlay val="0"/>
    </c:title>
    <c:autoTitleDeleted val="0"/>
    <c:plotArea>
      <c:barChart>
        <c:barDir val="col"/>
        <c:grouping val="clustered"/>
        <c:ser>
          <c:idx val="0"/>
          <c:order val="0"/>
          <c:tx>
            <c:strRef>
              <c:f>Sheet1!$B$1</c:f>
              <c:strCache>
                <c:ptCount val="1"/>
                <c:pt idx="0">
                  <c:v>예산</c:v>
                </c:pt>
              </c:strCache>
            </c:strRef>
          </c:tx>
          <c:spPr>
            <a:solidFill>
              <a:srgbClr val="1F3A93"/>
            </a:solidFill>
          </c:spPr>
          <c:invertIfNegative val="0"/>
          <c:cat>
            <c:strRef>
              <c:f>Sheet1!$A$2:$A$7</c:f>
              <c:strCache>
                <c:ptCount val="6"/>
                <c:pt idx="0">
                  <c:v>인건비</c:v>
                </c:pt>
                <c:pt idx="1">
                  <c:v>연구재료비</c:v>
                </c:pt>
                <c:pt idx="2">
                  <c:v>위탁연구</c:v>
                </c:pt>
                <c:pt idx="3">
                  <c:v>인증·시험</c:v>
                </c:pt>
                <c:pt idx="4">
                  <c:v>현장 실증</c:v>
                </c:pt>
                <c:pt idx="5">
                  <c:v>지식재산</c:v>
                </c:pt>
              </c:strCache>
            </c:strRef>
          </c:cat>
          <c:val>
            <c:numRef>
              <c:f>Sheet1!$B$2:$B$7</c:f>
              <c:numCache>
                <c:formatCode>General</c:formatCode>
                <c:ptCount val="6"/>
                <c:pt idx="0">
                  <c:v>2.5</c:v>
                </c:pt>
                <c:pt idx="1">
                  <c:v>2.0</c:v>
                </c:pt>
                <c:pt idx="2">
                  <c:v>1.4</c:v>
                </c:pt>
                <c:pt idx="3">
                  <c:v>0.6</c:v>
                </c:pt>
                <c:pt idx="4">
                  <c:v>0.5</c:v>
                </c:pt>
                <c:pt idx="5">
                  <c:v>0.3</c:v>
                </c:pt>
              </c:numCache>
            </c:numRef>
          </c:val>
        </c:ser>
        <c:dLbls>
          <c:numFmt formatCode="0.0" sourceLinked="0"/>
          <c:txPr>
            <a:bodyPr/>
            <a:lstStyle/>
            <a:p>
              <a:pPr>
                <a:defRPr sz="1000">
                  <a:latin typeface="Noto Sans KR"/>
                  <a:ea typeface="Noto Sans KR"/>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FBFBF"/>
            </a:solidFill>
          </a:ln>
        </c:spPr>
        <c:txPr>
          <a:bodyPr/>
          <a:lstStyle/>
          <a:p>
            <a:pPr>
              <a:defRPr sz="1000">
                <a:ea typeface="Noto Sans KR"/>
              </a:defRPr>
            </a:pPr>
          </a:p>
        </c:txPr>
        <c:crossAx val="-2113994440"/>
        <c:crosses val="autoZero"/>
        <c:auto val="1"/>
        <c:lblAlgn val="ctr"/>
        <c:lblOffset val="100"/>
        <c:noMultiLvlLbl val="0"/>
      </c:catAx>
      <c:valAx>
        <c:axId val="-2113994440"/>
        <c:scaling>
          <c:max val="3.0"/>
        </c:scaling>
        <c:delete val="0"/>
        <c:axPos val="l"/>
        <c:majorGridlines>
          <c:spPr>
            <a:ln>
              <a:solidFill>
                <a:srgbClr val="E3E3E3"/>
              </a:solidFill>
            </a:ln>
          </c:spPr>
        </c:majorGridlines>
        <c:majorTickMark val="out"/>
        <c:minorTickMark val="none"/>
        <c:tickLblPos val="nextTo"/>
        <c:spPr>
          <a:ln>
            <a:noFill/>
          </a:ln>
        </c:spPr>
        <c:txPr>
          <a:bodyPr/>
          <a:lstStyle/>
          <a:p>
            <a:pPr>
              <a:defRPr sz="900">
                <a:solidFill>
                  <a:srgbClr val="595959"/>
                </a:solidFill>
                <a:ea typeface="Noto Sans KR"/>
              </a:defRPr>
            </a:pPr>
          </a:p>
        </c:txPr>
        <c:crossAx val="-2068027336"/>
        <c:crosses val="autoZero"/>
      </c:valAx>
    </c:plotArea>
    <c:dispBlanksAs val="gap"/>
  </c:chart>
  <c:txPr>
    <a:bodyPr/>
    <a:lstStyle/>
    <a:p>
      <a:pPr>
        <a:defRPr sz="1000">
          <a:solidFill>
            <a:srgbClr val="222222"/>
          </a:solidFill>
          <a:latin typeface="Noto Sans KR"/>
          <a:ea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26/10/07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내부 검토용 초안. 사업계획서(docx)와 개발계획 과제제안서(docx)의 핵심을 슬라이드로 옮긴 자료입니다. 과제 금액·일정과 언론 보도 수치는 원문 확인 전 값이므로 23장을 함께 보세요.</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2024 경찰청 종합쇼핑몰 납품요구 내역(나눔컴퍼니 137건) 분석, 사업계획서 0장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당사 5사 경광등 비교표(2025.10), 전세계 동향(2025.10), 특허 조사(2026.4), 경찰청 보도, 2026 ITS 세계총회 출품 자료.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엠클라비스 '5사 경광등 비교표'(2025.10.31), '경광등 관련 특허 조사'(2026.4). 공개 자료 기준이며 일부 수치는 미확인.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도면은 엠클라비스 '경광등 관련 특허 조사'(2026.4)에 수록된 각 특허의 공개 도면이다. 제품 사진이 아니며, VITRONIC·Hikvision·GET·Dahua는 조사한 특허 도면이 없어 제외했다. 제조사 사이트에 접속할 수 없어 제품 사진은 넣지 못했다. 권리 상태: US9002313B2 2026.8.30 만료, US9791766B2 2034.1, US9928737B2 2034.12, US10946793B1 2040.4 만료 예정(특허 조사 기준).</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수준은 보도 수치의 신뢰도와 제품과의 직접성으로 판단. 수치는 검색 요약 기준이며 원문 대조가 필요함. 출처 목록은 24장.</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네이트뉴스 2026.1.10(5년 34명 보도, 연도별 부상 33명), 전북일보 2025.9.1(한국도로공사 치사율 54.3% 대 8.4%, 6.5배), YTN 2026.7.9(최근 3년 5배), 파이낸셜뉴스 2026.6.24(2026년 1~5월 고속도로 사망자 52.4% 증가). 모두 검색 요약 기준.</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머니투데이 2015.2.12, 한국일보 2015.2.11, 충청투데이(리프트 경광등), 경향신문 2022.3.3(탑재형 단속), 경찰청 2024 종합쇼핑몰 납품요구(181대·89대). 2014년 개발 계기는 출처 재확인 필요.</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경찰청(수요기관코드 1320000) 종합쇼핑몰 납품요구 물품 내역 2024, ㈜나눔컴퍼니 137건. 제조사 이름은 보도·커뮤니티 자료 기준으로 사실 확인 필요. 경광등 패키지 비중: 전기다목적순찰차 건 총 125.7억 원 중 8.87억 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 조달청 다수공급자계약 요건(세부품명 거래실례 3건·품목 1건, 특수관계인 거래 불인정), 혁신제품 지정(최대 6년 수의계약). 2026 신청 창구는 상반기 1/30~3/5, 하반기 7/10~8/10.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사업계획서 3.1장. 카메라·번호판 인식(T3)은 파트너 협력을 전제로 하며 T2까지는 영상 저장과 식별을 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규격은 MCRT-100N/R 규격에서 가져온 초안이며 주행 중 성능은 아직 검증되지 않은 목표값이다. 개념 시제품으로 실측한 뒤 확정한다.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사업계획서 3.4장, 6.1장. 신규 인력은 하드웨어·기구 1명, 과제관리·인증 1명으로 제한.</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사업계획서 4.1장. 시범구매 30대와 직납 300대는 당사 목표(가정)이며 경찰청 확인이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사업계획서 7장. T2 600만 원, T3 1,500만 원, 레이더 모듈 160만 원(현 공급가) 가정. 손익분기는 2028년 시범구매 시점.</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 중기부 2026 기술개발 지원사업 통합공고, 과학치안진흥센터 2026 신규사업 공고, 조달청 2026 혁신제품 기술개발 공고(검색 요약 기준). 공고 원문 사이트에 접속하지 못해 금액·일정·요건은 원문 재확인 필요. 2026년 창구는 대부분 마감, 다음 기회는 2027년 상반기로 판단.</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사업계획서 5.2, 5.4장. 접수 시기는 2026년 공고 패턴을 기준으로 한 추정이며 2027 공고 확인 필요. 창업성장(디딤돌)은 창업 7년 이내 대상이라 해당하지 않음.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개발계획 과제제안서 1, 8장. 정부 지원 비율 약 75%. 지원 비율과 현금·현물 인정 범위는 공고별로 달라 서식에 옮기기 전 재산정 필요.</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개발계획 과제제안서 4.3, 5.3장.</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개발계획 과제제안서 3.2장. 6번과 7번 수치는 제안 시점 추정이며 개념 시제품 측정값으로 대체한다.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사업계획서 1.4장. 해결 못 하면 선호가 아닌 외면으로 이어질 수 있는 요인을 먼저 정리했다.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사업계획서 6.4, 8장. 담당과 기한은 초안이며 대표이사 검토 후 확정.</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접속 차단된 사이트: 중기부·조달청·과학치안진흥센터 공고, 주요 언론 원문. 모든 외부 수치는 검색 결과 요약 기준.</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링크는 검색 결과에 나온 주소를 그대로 적었다.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normAutofit/>
          </a:bodyPr>
          <a:lstStyle>
            <a:lvl1pPr algn="ctr">
              <a:defRPr sz="4800"/>
            </a:lvl1pPr>
          </a:lstStyle>
          <a:p>
            <a:r>
              <a:rPr lang="ko-KR" altLang="en-US" dirty="0"/>
              <a:t>마스터 제목 스타일 편집</a:t>
            </a:r>
          </a:p>
        </p:txBody>
      </p:sp>
      <p:sp>
        <p:nvSpPr>
          <p:cNvPr id="3" name="부제목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dirty="0"/>
              <a:t>클릭하여 마스터 부제목 스타일 편집</a:t>
            </a:r>
          </a:p>
        </p:txBody>
      </p:sp>
      <p:pic>
        <p:nvPicPr>
          <p:cNvPr id="7" name="Picture 2" descr="https://encrypted-tbn3.gstatic.com/images?q=tbn:ANd9GcQuv8YCDNR4aama4ffPaXcCQSLTokGLxyb_azceVpIre0_4J76rUA"/>
          <p:cNvPicPr>
            <a:picLocks noChangeAspect="1" noChangeArrowheads="1"/>
          </p:cNvPicPr>
          <p:nvPr userDrawn="1"/>
        </p:nvPicPr>
        <p:blipFill>
          <a:blip r:embed="rId2">
            <a:extLst>
              <a:ext uri="{28A0092B-C50C-407E-A947-70E740481C1C}">
                <a14:useLocalDpi xmlns:a14="http://schemas.microsoft.com/office/drawing/2010/main" val="0"/>
              </a:ext>
            </a:extLst>
          </a:blip>
          <a:srcRect b="50000"/>
          <a:stretch>
            <a:fillRect/>
          </a:stretch>
        </p:blipFill>
        <p:spPr bwMode="auto">
          <a:xfrm>
            <a:off x="0" y="0"/>
            <a:ext cx="12192000" cy="142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userDrawn="1"/>
        </p:nvSpPr>
        <p:spPr bwMode="auto">
          <a:xfrm>
            <a:off x="-1820" y="6642556"/>
            <a:ext cx="258596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200" b="1">
                <a:solidFill>
                  <a:schemeClr val="tx1"/>
                </a:solidFill>
                <a:latin typeface="맑은 고딕" panose="020B0503020000020004" pitchFamily="50" charset="-127"/>
                <a:ea typeface="맑은 고딕" panose="020B0503020000020004" pitchFamily="50" charset="-127"/>
              </a:defRPr>
            </a:lvl1pPr>
            <a:lvl2pPr marL="742950" indent="-285750">
              <a:defRPr kumimoji="1" sz="1200" b="1">
                <a:solidFill>
                  <a:schemeClr val="tx1"/>
                </a:solidFill>
                <a:latin typeface="맑은 고딕" panose="020B0503020000020004" pitchFamily="50" charset="-127"/>
                <a:ea typeface="맑은 고딕" panose="020B0503020000020004" pitchFamily="50" charset="-127"/>
              </a:defRPr>
            </a:lvl2pPr>
            <a:lvl3pPr marL="1143000" indent="-228600">
              <a:defRPr kumimoji="1" sz="1200" b="1">
                <a:solidFill>
                  <a:schemeClr val="tx1"/>
                </a:solidFill>
                <a:latin typeface="맑은 고딕" panose="020B0503020000020004" pitchFamily="50" charset="-127"/>
                <a:ea typeface="맑은 고딕" panose="020B0503020000020004" pitchFamily="50" charset="-127"/>
              </a:defRPr>
            </a:lvl3pPr>
            <a:lvl4pPr marL="1600200" indent="-228600">
              <a:defRPr kumimoji="1" sz="1200" b="1">
                <a:solidFill>
                  <a:schemeClr val="tx1"/>
                </a:solidFill>
                <a:latin typeface="맑은 고딕" panose="020B0503020000020004" pitchFamily="50" charset="-127"/>
                <a:ea typeface="맑은 고딕" panose="020B0503020000020004" pitchFamily="50" charset="-127"/>
              </a:defRPr>
            </a:lvl4pPr>
            <a:lvl5pPr marL="2057400" indent="-228600">
              <a:defRPr kumimoji="1" sz="12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0"/>
              </a:spcBef>
              <a:spcAft>
                <a:spcPct val="0"/>
              </a:spcAft>
              <a:defRPr kumimoji="1" sz="12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0"/>
              </a:spcBef>
              <a:spcAft>
                <a:spcPct val="0"/>
              </a:spcAft>
              <a:defRPr kumimoji="1" sz="12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0"/>
              </a:spcBef>
              <a:spcAft>
                <a:spcPct val="0"/>
              </a:spcAft>
              <a:defRPr kumimoji="1" sz="12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0"/>
              </a:spcBef>
              <a:spcAft>
                <a:spcPct val="0"/>
              </a:spcAft>
              <a:defRPr kumimoji="1" sz="1200" b="1">
                <a:solidFill>
                  <a:schemeClr val="tx1"/>
                </a:solidFill>
                <a:latin typeface="맑은 고딕" panose="020B0503020000020004" pitchFamily="50" charset="-127"/>
                <a:ea typeface="맑은 고딕" panose="020B0503020000020004" pitchFamily="50" charset="-127"/>
              </a:defRPr>
            </a:lvl9pPr>
          </a:lstStyle>
          <a:p>
            <a:pPr>
              <a:defRPr/>
            </a:pPr>
            <a:r>
              <a:rPr lang="en-US" altLang="ko-KR" sz="800" b="0" dirty="0"/>
              <a:t>Copyright </a:t>
            </a:r>
            <a:r>
              <a:rPr lang="en-US" altLang="ko-KR" sz="800" b="0" dirty="0">
                <a:latin typeface="굴림" panose="020B0600000101010101" pitchFamily="50" charset="-127"/>
                <a:ea typeface="굴림" panose="020B0600000101010101" pitchFamily="50" charset="-127"/>
              </a:rPr>
              <a:t>ⓒ</a:t>
            </a:r>
            <a:r>
              <a:rPr lang="en-US" altLang="ko-KR" sz="800" b="0" dirty="0"/>
              <a:t> MClavis Corp., Ltd. All Right Reserved.</a:t>
            </a:r>
            <a:endParaRPr lang="ko-KR" altLang="en-US" sz="800" b="0" dirty="0"/>
          </a:p>
        </p:txBody>
      </p:sp>
      <p:sp>
        <p:nvSpPr>
          <p:cNvPr id="10" name="날짜 개체 틀 3"/>
          <p:cNvSpPr txBox="1">
            <a:spLocks/>
          </p:cNvSpPr>
          <p:nvPr userDrawn="1"/>
        </p:nvSpPr>
        <p:spPr>
          <a:xfrm>
            <a:off x="3525364" y="6577574"/>
            <a:ext cx="2743200" cy="280425"/>
          </a:xfrm>
          <a:prstGeom prst="rect">
            <a:avLst/>
          </a:prstGeom>
        </p:spPr>
        <p:txBody>
          <a:bodyPr vert="horz" lIns="91440" tIns="45720" rIns="91440" bIns="45720" rtlCol="0" anchor="ctr"/>
          <a:lstStyle>
            <a:defPPr>
              <a:defRPr lang="ko-KR"/>
            </a:defPPr>
            <a:lvl1pPr marL="0" algn="l" defTabSz="914400" rtl="0" eaLnBrk="1" latinLnBrk="1" hangingPunct="1">
              <a:defRPr sz="10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fld id="{26494E1C-0098-483A-A815-468AA69CD83A}" type="datetimeFigureOut">
              <a:rPr lang="ko-KR" altLang="en-US" smtClean="0"/>
              <a:pPr/>
              <a:t>2026-10-07</a:t>
            </a:fld>
            <a:endParaRPr lang="ko-KR" altLang="en-US" dirty="0"/>
          </a:p>
        </p:txBody>
      </p:sp>
    </p:spTree>
    <p:extLst>
      <p:ext uri="{BB962C8B-B14F-4D97-AF65-F5344CB8AC3E}">
        <p14:creationId xmlns:p14="http://schemas.microsoft.com/office/powerpoint/2010/main" val="4176133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a:xfrm>
            <a:off x="72483" y="164403"/>
            <a:ext cx="10515600" cy="355987"/>
          </a:xfrm>
        </p:spPr>
        <p:txBody>
          <a:bodyPr>
            <a:normAutofit/>
          </a:bodyPr>
          <a:lstStyle>
            <a:lvl1pPr>
              <a:defRPr sz="2000" b="1">
                <a:latin typeface="휴먼옛체" panose="02030504000101010101" pitchFamily="18" charset="-127"/>
                <a:ea typeface="휴먼옛체" panose="02030504000101010101" pitchFamily="18" charset="-127"/>
              </a:defRPr>
            </a:lvl1pPr>
          </a:lstStyle>
          <a:p>
            <a:r>
              <a:rPr lang="ko-KR" altLang="en-US" dirty="0"/>
              <a:t>마스터 제목 스타일 편집</a:t>
            </a:r>
          </a:p>
        </p:txBody>
      </p:sp>
      <p:sp>
        <p:nvSpPr>
          <p:cNvPr id="3" name="날짜 개체 틀 2"/>
          <p:cNvSpPr>
            <a:spLocks noGrp="1"/>
          </p:cNvSpPr>
          <p:nvPr>
            <p:ph type="dt" sz="half" idx="10"/>
          </p:nvPr>
        </p:nvSpPr>
        <p:spPr/>
        <p:txBody>
          <a:bodyPr/>
          <a:lstStyle/>
          <a:p>
            <a:fld id="{26494E1C-0098-483A-A815-468AA69CD83A}" type="datetimeFigureOut">
              <a:rPr lang="ko-KR" altLang="en-US" smtClean="0"/>
              <a:pPr/>
              <a:t>2026-10-07</a:t>
            </a:fld>
            <a:endParaRPr lang="ko-KR" altLang="en-US" dirty="0"/>
          </a:p>
        </p:txBody>
      </p:sp>
      <p:sp>
        <p:nvSpPr>
          <p:cNvPr id="4" name="바닥글 개체 틀 3"/>
          <p:cNvSpPr>
            <a:spLocks noGrp="1"/>
          </p:cNvSpPr>
          <p:nvPr>
            <p:ph type="ftr" sz="quarter" idx="11"/>
          </p:nvPr>
        </p:nvSpPr>
        <p:spPr/>
        <p:txBody>
          <a:bodyPr/>
          <a:lstStyle/>
          <a:p>
            <a:endParaRPr lang="ko-KR" altLang="en-US" dirty="0"/>
          </a:p>
        </p:txBody>
      </p:sp>
      <p:sp>
        <p:nvSpPr>
          <p:cNvPr id="5" name="슬라이드 번호 개체 틀 4"/>
          <p:cNvSpPr>
            <a:spLocks noGrp="1"/>
          </p:cNvSpPr>
          <p:nvPr>
            <p:ph type="sldNum" sz="quarter" idx="12"/>
          </p:nvPr>
        </p:nvSpPr>
        <p:spPr/>
        <p:txBody>
          <a:bodyPr/>
          <a:lstStyle/>
          <a:p>
            <a:fld id="{12EF7429-1DF7-458A-9B75-9DDA0CC8F3A5}" type="slidenum">
              <a:rPr lang="ko-KR" altLang="en-US" smtClean="0"/>
              <a:pPr/>
              <a:t>‹#›</a:t>
            </a:fld>
            <a:endParaRPr lang="ko-KR" altLang="en-US" dirty="0"/>
          </a:p>
        </p:txBody>
      </p:sp>
    </p:spTree>
    <p:extLst>
      <p:ext uri="{BB962C8B-B14F-4D97-AF65-F5344CB8AC3E}">
        <p14:creationId xmlns:p14="http://schemas.microsoft.com/office/powerpoint/2010/main" val="18846130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eg"/><Relationship Id="rId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79917" y="205729"/>
            <a:ext cx="10515600" cy="370855"/>
          </a:xfrm>
          <a:prstGeom prst="rect">
            <a:avLst/>
          </a:prstGeom>
        </p:spPr>
        <p:txBody>
          <a:bodyPr vert="horz" lIns="91440" tIns="45720" rIns="91440" bIns="45720" rtlCol="0" anchor="ctr">
            <a:normAutofit/>
          </a:bodyPr>
          <a:lstStyle/>
          <a:p>
            <a:r>
              <a:rPr lang="ko-KR" altLang="en-US" dirty="0"/>
              <a:t>마스터 제목 스타일 편집</a:t>
            </a:r>
          </a:p>
        </p:txBody>
      </p:sp>
      <p:pic>
        <p:nvPicPr>
          <p:cNvPr id="7" name="Picture 2" descr="https://encrypted-tbn3.gstatic.com/images?q=tbn:ANd9GcQuv8YCDNR4aama4ffPaXcCQSLTokGLxyb_azceVpIre0_4J76rUA"/>
          <p:cNvPicPr>
            <a:picLocks noChangeAspect="1" noChangeArrowheads="1"/>
          </p:cNvPicPr>
          <p:nvPr userDrawn="1"/>
        </p:nvPicPr>
        <p:blipFill>
          <a:blip r:embed="rId4">
            <a:extLst>
              <a:ext uri="{28A0092B-C50C-407E-A947-70E740481C1C}">
                <a14:useLocalDpi xmlns:a14="http://schemas.microsoft.com/office/drawing/2010/main" val="0"/>
              </a:ext>
            </a:extLst>
          </a:blip>
          <a:srcRect b="50000"/>
          <a:stretch>
            <a:fillRect/>
          </a:stretch>
        </p:blipFill>
        <p:spPr bwMode="auto">
          <a:xfrm>
            <a:off x="0" y="0"/>
            <a:ext cx="12192000" cy="142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userDrawn="1"/>
        </p:nvSpPr>
        <p:spPr bwMode="auto">
          <a:xfrm>
            <a:off x="-1820" y="6642556"/>
            <a:ext cx="258596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1200" b="1">
                <a:solidFill>
                  <a:schemeClr val="tx1"/>
                </a:solidFill>
                <a:latin typeface="맑은 고딕" panose="020B0503020000020004" pitchFamily="50" charset="-127"/>
                <a:ea typeface="맑은 고딕" panose="020B0503020000020004" pitchFamily="50" charset="-127"/>
              </a:defRPr>
            </a:lvl1pPr>
            <a:lvl2pPr marL="742950" indent="-285750">
              <a:defRPr kumimoji="1" sz="1200" b="1">
                <a:solidFill>
                  <a:schemeClr val="tx1"/>
                </a:solidFill>
                <a:latin typeface="맑은 고딕" panose="020B0503020000020004" pitchFamily="50" charset="-127"/>
                <a:ea typeface="맑은 고딕" panose="020B0503020000020004" pitchFamily="50" charset="-127"/>
              </a:defRPr>
            </a:lvl2pPr>
            <a:lvl3pPr marL="1143000" indent="-228600">
              <a:defRPr kumimoji="1" sz="1200" b="1">
                <a:solidFill>
                  <a:schemeClr val="tx1"/>
                </a:solidFill>
                <a:latin typeface="맑은 고딕" panose="020B0503020000020004" pitchFamily="50" charset="-127"/>
                <a:ea typeface="맑은 고딕" panose="020B0503020000020004" pitchFamily="50" charset="-127"/>
              </a:defRPr>
            </a:lvl3pPr>
            <a:lvl4pPr marL="1600200" indent="-228600">
              <a:defRPr kumimoji="1" sz="1200" b="1">
                <a:solidFill>
                  <a:schemeClr val="tx1"/>
                </a:solidFill>
                <a:latin typeface="맑은 고딕" panose="020B0503020000020004" pitchFamily="50" charset="-127"/>
                <a:ea typeface="맑은 고딕" panose="020B0503020000020004" pitchFamily="50" charset="-127"/>
              </a:defRPr>
            </a:lvl4pPr>
            <a:lvl5pPr marL="2057400" indent="-228600">
              <a:defRPr kumimoji="1" sz="12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0"/>
              </a:spcBef>
              <a:spcAft>
                <a:spcPct val="0"/>
              </a:spcAft>
              <a:defRPr kumimoji="1" sz="12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0"/>
              </a:spcBef>
              <a:spcAft>
                <a:spcPct val="0"/>
              </a:spcAft>
              <a:defRPr kumimoji="1" sz="12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0"/>
              </a:spcBef>
              <a:spcAft>
                <a:spcPct val="0"/>
              </a:spcAft>
              <a:defRPr kumimoji="1" sz="12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0"/>
              </a:spcBef>
              <a:spcAft>
                <a:spcPct val="0"/>
              </a:spcAft>
              <a:defRPr kumimoji="1" sz="1200" b="1">
                <a:solidFill>
                  <a:schemeClr val="tx1"/>
                </a:solidFill>
                <a:latin typeface="맑은 고딕" panose="020B0503020000020004" pitchFamily="50" charset="-127"/>
                <a:ea typeface="맑은 고딕" panose="020B0503020000020004" pitchFamily="50" charset="-127"/>
              </a:defRPr>
            </a:lvl9pPr>
          </a:lstStyle>
          <a:p>
            <a:pPr>
              <a:defRPr/>
            </a:pPr>
            <a:r>
              <a:rPr lang="en-US" altLang="ko-KR" sz="800" b="0" dirty="0"/>
              <a:t>Copyright </a:t>
            </a:r>
            <a:r>
              <a:rPr lang="en-US" altLang="ko-KR" sz="800" b="0" dirty="0">
                <a:latin typeface="굴림" panose="020B0600000101010101" pitchFamily="50" charset="-127"/>
                <a:ea typeface="굴림" panose="020B0600000101010101" pitchFamily="50" charset="-127"/>
              </a:rPr>
              <a:t>ⓒ</a:t>
            </a:r>
            <a:r>
              <a:rPr lang="en-US" altLang="ko-KR" sz="800" b="0" dirty="0"/>
              <a:t> MClavis Corp., Ltd. All Right Reserved.</a:t>
            </a:r>
            <a:endParaRPr lang="ko-KR" altLang="en-US" sz="800" b="0" dirty="0"/>
          </a:p>
        </p:txBody>
      </p:sp>
      <p:sp>
        <p:nvSpPr>
          <p:cNvPr id="10" name="날짜 개체 틀 3"/>
          <p:cNvSpPr>
            <a:spLocks noGrp="1"/>
          </p:cNvSpPr>
          <p:nvPr>
            <p:ph type="dt" sz="half" idx="2"/>
          </p:nvPr>
        </p:nvSpPr>
        <p:spPr>
          <a:xfrm>
            <a:off x="3525364" y="6577574"/>
            <a:ext cx="2743200" cy="280425"/>
          </a:xfrm>
          <a:prstGeom prst="rect">
            <a:avLst/>
          </a:prstGeom>
        </p:spPr>
        <p:txBody>
          <a:bodyPr/>
          <a:lstStyle>
            <a:lvl1pPr>
              <a:defRPr sz="1000"/>
            </a:lvl1pPr>
          </a:lstStyle>
          <a:p>
            <a:fld id="{26494E1C-0098-483A-A815-468AA69CD83A}" type="datetimeFigureOut">
              <a:rPr lang="ko-KR" altLang="en-US" smtClean="0"/>
              <a:pPr/>
              <a:t>2026-10-07</a:t>
            </a:fld>
            <a:endParaRPr lang="ko-KR" altLang="en-US" dirty="0"/>
          </a:p>
        </p:txBody>
      </p:sp>
      <p:sp>
        <p:nvSpPr>
          <p:cNvPr id="11" name="바닥글 개체 틀 4"/>
          <p:cNvSpPr>
            <a:spLocks noGrp="1"/>
          </p:cNvSpPr>
          <p:nvPr>
            <p:ph type="ftr" sz="quarter" idx="3"/>
          </p:nvPr>
        </p:nvSpPr>
        <p:spPr>
          <a:xfrm>
            <a:off x="7039857" y="6574651"/>
            <a:ext cx="4114800" cy="280425"/>
          </a:xfrm>
          <a:prstGeom prst="rect">
            <a:avLst/>
          </a:prstGeom>
        </p:spPr>
        <p:txBody>
          <a:bodyPr/>
          <a:lstStyle>
            <a:lvl1pPr>
              <a:defRPr sz="1000"/>
            </a:lvl1pPr>
          </a:lstStyle>
          <a:p>
            <a:endParaRPr lang="ko-KR" altLang="en-US" dirty="0"/>
          </a:p>
        </p:txBody>
      </p:sp>
      <p:sp>
        <p:nvSpPr>
          <p:cNvPr id="12" name="슬라이드 번호 개체 틀 5"/>
          <p:cNvSpPr>
            <a:spLocks noGrp="1"/>
          </p:cNvSpPr>
          <p:nvPr>
            <p:ph type="sldNum" sz="quarter" idx="4"/>
          </p:nvPr>
        </p:nvSpPr>
        <p:spPr>
          <a:xfrm>
            <a:off x="2498931" y="6574650"/>
            <a:ext cx="919084" cy="280425"/>
          </a:xfrm>
          <a:prstGeom prst="rect">
            <a:avLst/>
          </a:prstGeom>
        </p:spPr>
        <p:txBody>
          <a:bodyPr/>
          <a:lstStyle>
            <a:lvl1pPr>
              <a:defRPr sz="1000"/>
            </a:lvl1pPr>
          </a:lstStyle>
          <a:p>
            <a:fld id="{12EF7429-1DF7-458A-9B75-9DDA0CC8F3A5}" type="slidenum">
              <a:rPr lang="ko-KR" altLang="en-US" smtClean="0"/>
              <a:pPr/>
              <a:t>‹#›</a:t>
            </a:fld>
            <a:endParaRPr lang="ko-KR" altLang="en-US" dirty="0"/>
          </a:p>
        </p:txBody>
      </p:sp>
      <p:pic>
        <p:nvPicPr>
          <p:cNvPr id="4" name="그림 3">
            <a:extLst>
              <a:ext uri="{FF2B5EF4-FFF2-40B4-BE49-F238E27FC236}">
                <a16:creationId xmlns:a16="http://schemas.microsoft.com/office/drawing/2014/main" id="{4665911C-07D2-3FDF-47FC-A8FB3EF896A7}"/>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10553" t="35020" r="10357" b="34618"/>
          <a:stretch/>
        </p:blipFill>
        <p:spPr>
          <a:xfrm>
            <a:off x="10526617" y="6453404"/>
            <a:ext cx="1580920" cy="404596"/>
          </a:xfrm>
          <a:prstGeom prst="rect">
            <a:avLst/>
          </a:prstGeom>
        </p:spPr>
      </p:pic>
    </p:spTree>
    <p:extLst>
      <p:ext uri="{BB962C8B-B14F-4D97-AF65-F5344CB8AC3E}">
        <p14:creationId xmlns:p14="http://schemas.microsoft.com/office/powerpoint/2010/main" val="2302157033"/>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1" hangingPunct="1">
        <a:lnSpc>
          <a:spcPct val="90000"/>
        </a:lnSpc>
        <a:spcBef>
          <a:spcPct val="0"/>
        </a:spcBef>
        <a:buNone/>
        <a:defRPr sz="2400" b="1" kern="1200">
          <a:solidFill>
            <a:schemeClr val="tx1"/>
          </a:solidFill>
          <a:latin typeface="휴먼옛체" panose="02030504000101010101" pitchFamily="18" charset="-127"/>
          <a:ea typeface="휴먼옛체" panose="02030504000101010101" pitchFamily="18"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hart" Target="../charts/char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chart" Target="../charts/char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chart" Target="../charts/char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A58EEF07-6119-B971-909E-1FCA20FE1385}"/>
              </a:ext>
            </a:extLst>
          </p:cNvPr>
          <p:cNvSpPr>
            <a:spLocks noGrp="1"/>
          </p:cNvSpPr>
          <p:nvPr>
            <p:ph type="ctrTitle"/>
          </p:nvPr>
        </p:nvSpPr>
        <p:spPr/>
        <p:txBody>
          <a:bodyPr/>
          <a:lstStyle/>
          <a:p>
            <a:r>
              <a:rPr lang="ko-KR">
                <a:latin typeface="Noto Sans KR"/>
                <a:ea typeface="Noto Sans KR"/>
                <a:cs typeface="Noto Sans KR"/>
              </a:rPr>
              <a:t>스마트 경찰 경광등 사업계획 및 R&amp;D 과제 제안</a:t>
            </a:r>
            <a:endParaRPr lang="en-US"/>
          </a:p>
        </p:txBody>
      </p:sp>
      <p:sp>
        <p:nvSpPr>
          <p:cNvPr id="3" name="부제목 2"/>
          <p:cNvSpPr>
            <a:spLocks noGrp="1"/>
          </p:cNvSpPr>
          <p:nvPr>
            <p:ph type="subTitle" idx="1"/>
          </p:nvPr>
        </p:nvSpPr>
        <p:spPr/>
        <p:txBody>
          <a:bodyPr/>
          <a:lstStyle/>
          <a:p>
            <a:r>
              <a:rPr lang="ko-KR" altLang="ko-KR">
                <a:latin typeface="Noto Sans KR"/>
                <a:ea typeface="Noto Sans KR"/>
                <a:cs typeface="Noto Sans KR"/>
              </a:rPr>
              <a:t>26/10/07</a:t>
            </a:r>
            <a:endParaRPr lang="en-US" altLang="ko-KR" dirty="0"/>
          </a:p>
          <a:p>
            <a:endParaRPr lang="en-US" altLang="ko-KR" dirty="0"/>
          </a:p>
          <a:p>
            <a:r>
              <a:rPr lang="ko-KR" altLang="en-US" dirty="0">
                <a:latin typeface="Noto Sans KR"/>
                <a:ea typeface="Noto Sans KR"/>
                <a:cs typeface="Noto Sans KR"/>
              </a:rPr>
              <a:t>엠클라비스㈜</a:t>
            </a:r>
          </a:p>
        </p:txBody>
      </p:sp>
    </p:spTree>
    <p:extLst>
      <p:ext uri="{BB962C8B-B14F-4D97-AF65-F5344CB8AC3E}">
        <p14:creationId xmlns:p14="http://schemas.microsoft.com/office/powerpoint/2010/main" val="50757177"/>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핵심 요약</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레이더 일체형 스마트 경광등으로 경찰청 직납 구조를 만든다</a:t>
            </a:r>
          </a:p>
        </p:txBody>
      </p:sp>
      <p:sp>
        <p:nvSpPr>
          <p:cNvPr id="4" name="Oval 3"/>
          <p:cNvSpPr/>
          <p:nvPr/>
        </p:nvSpPr>
        <p:spPr>
          <a:xfrm>
            <a:off x="365760" y="1260000"/>
            <a:ext cx="420000" cy="42000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600" b="1" i="0" lang="ko-KR">
                <a:solidFill>
                  <a:srgbClr val="FFFFFF"/>
                </a:solidFill>
                <a:latin typeface="Noto Sans KR"/>
                <a:ea typeface="Noto Sans KR"/>
                <a:cs typeface="Noto Sans KR"/>
              </a:rPr>
              <a:t>1</a:t>
            </a:r>
          </a:p>
        </p:txBody>
      </p:sp>
      <p:sp>
        <p:nvSpPr>
          <p:cNvPr id="5" name="TextBox 4"/>
          <p:cNvSpPr txBox="1"/>
          <p:nvPr/>
        </p:nvSpPr>
        <p:spPr>
          <a:xfrm>
            <a:off x="925760" y="1200000"/>
            <a:ext cx="6500000" cy="1150000"/>
          </a:xfrm>
          <a:prstGeom prst="rect">
            <a:avLst/>
          </a:prstGeom>
          <a:noFill/>
        </p:spPr>
        <p:txBody>
          <a:bodyPr wrap="square" lIns="0" rIns="0" tIns="0" bIns="0" anchor="t">
            <a:noAutofit/>
          </a:bodyPr>
          <a:lstStyle/>
          <a:p>
            <a:pPr>
              <a:spcAft>
                <a:spcPts val="300"/>
              </a:spcAft>
            </a:pPr>
            <a:r>
              <a:rPr sz="1600" b="1" i="0" lang="ko-KR">
                <a:solidFill>
                  <a:srgbClr val="1F3A93"/>
                </a:solidFill>
                <a:latin typeface="Noto Sans KR"/>
                <a:ea typeface="Noto Sans KR"/>
                <a:cs typeface="Noto Sans KR"/>
              </a:rPr>
              <a:t>현재 구조</a:t>
            </a:r>
          </a:p>
          <a:p>
            <a:pPr>
              <a:spcAft>
                <a:spcPts val="400"/>
              </a:spcAft>
            </a:pPr>
            <a:r>
              <a:rPr sz="1400" b="0" i="0" lang="ko-KR">
                <a:solidFill>
                  <a:srgbClr val="222222"/>
                </a:solidFill>
                <a:latin typeface="Noto Sans KR"/>
                <a:ea typeface="Noto Sans KR"/>
                <a:cs typeface="Noto Sans KR"/>
              </a:rPr>
              <a:t>순찰차 경광등은 특장업체의 패키지용품으로 납품되어 당사는 경찰청과 직접 계약이 없다.</a:t>
            </a:r>
          </a:p>
        </p:txBody>
      </p:sp>
      <p:sp>
        <p:nvSpPr>
          <p:cNvPr id="6" name="Oval 5"/>
          <p:cNvSpPr/>
          <p:nvPr/>
        </p:nvSpPr>
        <p:spPr>
          <a:xfrm>
            <a:off x="365760" y="2480000"/>
            <a:ext cx="420000" cy="42000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600" b="1" i="0" lang="ko-KR">
                <a:solidFill>
                  <a:srgbClr val="FFFFFF"/>
                </a:solidFill>
                <a:latin typeface="Noto Sans KR"/>
                <a:ea typeface="Noto Sans KR"/>
                <a:cs typeface="Noto Sans KR"/>
              </a:rPr>
              <a:t>2</a:t>
            </a:r>
          </a:p>
        </p:txBody>
      </p:sp>
      <p:sp>
        <p:nvSpPr>
          <p:cNvPr id="7" name="TextBox 6"/>
          <p:cNvSpPr txBox="1"/>
          <p:nvPr/>
        </p:nvSpPr>
        <p:spPr>
          <a:xfrm>
            <a:off x="925760" y="2420000"/>
            <a:ext cx="6500000" cy="1150000"/>
          </a:xfrm>
          <a:prstGeom prst="rect">
            <a:avLst/>
          </a:prstGeom>
          <a:noFill/>
        </p:spPr>
        <p:txBody>
          <a:bodyPr wrap="square" lIns="0" rIns="0" tIns="0" bIns="0" anchor="t">
            <a:noAutofit/>
          </a:bodyPr>
          <a:lstStyle/>
          <a:p>
            <a:pPr>
              <a:spcAft>
                <a:spcPts val="300"/>
              </a:spcAft>
            </a:pPr>
            <a:r>
              <a:rPr sz="1600" b="1" i="0" lang="ko-KR">
                <a:solidFill>
                  <a:srgbClr val="1F3A93"/>
                </a:solidFill>
                <a:latin typeface="Noto Sans KR"/>
                <a:ea typeface="Noto Sans KR"/>
                <a:cs typeface="Noto Sans KR"/>
              </a:rPr>
              <a:t>진입 방향</a:t>
            </a:r>
          </a:p>
          <a:p>
            <a:pPr>
              <a:spcAft>
                <a:spcPts val="400"/>
              </a:spcAft>
            </a:pPr>
            <a:r>
              <a:rPr sz="1400" b="0" i="0" lang="ko-KR">
                <a:solidFill>
                  <a:srgbClr val="222222"/>
                </a:solidFill>
                <a:latin typeface="Noto Sans KR"/>
                <a:ea typeface="Noto Sans KR"/>
                <a:cs typeface="Noto Sans KR"/>
              </a:rPr>
              <a:t>24GHz 레이더를 경광등에 내장해 레이더 기반 교통안전·단속 장비로 품목을 재정의한다.</a:t>
            </a:r>
          </a:p>
        </p:txBody>
      </p:sp>
      <p:sp>
        <p:nvSpPr>
          <p:cNvPr id="8" name="Oval 7"/>
          <p:cNvSpPr/>
          <p:nvPr/>
        </p:nvSpPr>
        <p:spPr>
          <a:xfrm>
            <a:off x="365760" y="3700000"/>
            <a:ext cx="420000" cy="42000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600" b="1" i="0" lang="ko-KR">
                <a:solidFill>
                  <a:srgbClr val="FFFFFF"/>
                </a:solidFill>
                <a:latin typeface="Noto Sans KR"/>
                <a:ea typeface="Noto Sans KR"/>
                <a:cs typeface="Noto Sans KR"/>
              </a:rPr>
              <a:t>3</a:t>
            </a:r>
          </a:p>
        </p:txBody>
      </p:sp>
      <p:sp>
        <p:nvSpPr>
          <p:cNvPr id="9" name="TextBox 8"/>
          <p:cNvSpPr txBox="1"/>
          <p:nvPr/>
        </p:nvSpPr>
        <p:spPr>
          <a:xfrm>
            <a:off x="925760" y="3640000"/>
            <a:ext cx="6500000" cy="1150000"/>
          </a:xfrm>
          <a:prstGeom prst="rect">
            <a:avLst/>
          </a:prstGeom>
          <a:noFill/>
        </p:spPr>
        <p:txBody>
          <a:bodyPr wrap="square" lIns="0" rIns="0" tIns="0" bIns="0" anchor="t">
            <a:noAutofit/>
          </a:bodyPr>
          <a:lstStyle/>
          <a:p>
            <a:pPr>
              <a:spcAft>
                <a:spcPts val="300"/>
              </a:spcAft>
            </a:pPr>
            <a:r>
              <a:rPr sz="1600" b="1" i="0" lang="ko-KR">
                <a:solidFill>
                  <a:srgbClr val="1F3A93"/>
                </a:solidFill>
                <a:latin typeface="Noto Sans KR"/>
                <a:ea typeface="Noto Sans KR"/>
                <a:cs typeface="Noto Sans KR"/>
              </a:rPr>
              <a:t>직납 경로</a:t>
            </a:r>
          </a:p>
          <a:p>
            <a:pPr>
              <a:spcAft>
                <a:spcPts val="400"/>
              </a:spcAft>
            </a:pPr>
            <a:r>
              <a:rPr sz="1400" b="0" i="0" lang="ko-KR">
                <a:solidFill>
                  <a:srgbClr val="222222"/>
                </a:solidFill>
                <a:latin typeface="Noto Sans KR"/>
                <a:ea typeface="Noto Sans KR"/>
                <a:cs typeface="Noto Sans KR"/>
              </a:rPr>
              <a:t>교통단속장비 2번째 공급사, 혁신제품 수의계약, 종합쇼핑몰 단품 등록 순으로 진입한다.</a:t>
            </a:r>
          </a:p>
        </p:txBody>
      </p:sp>
      <p:sp>
        <p:nvSpPr>
          <p:cNvPr id="10" name="Oval 9"/>
          <p:cNvSpPr/>
          <p:nvPr/>
        </p:nvSpPr>
        <p:spPr>
          <a:xfrm>
            <a:off x="365760" y="4920000"/>
            <a:ext cx="420000" cy="42000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600" b="1" i="0" lang="ko-KR">
                <a:solidFill>
                  <a:srgbClr val="FFFFFF"/>
                </a:solidFill>
                <a:latin typeface="Noto Sans KR"/>
                <a:ea typeface="Noto Sans KR"/>
                <a:cs typeface="Noto Sans KR"/>
              </a:rPr>
              <a:t>4</a:t>
            </a:r>
          </a:p>
        </p:txBody>
      </p:sp>
      <p:sp>
        <p:nvSpPr>
          <p:cNvPr id="11" name="TextBox 10"/>
          <p:cNvSpPr txBox="1"/>
          <p:nvPr/>
        </p:nvSpPr>
        <p:spPr>
          <a:xfrm>
            <a:off x="925760" y="4860000"/>
            <a:ext cx="6500000" cy="1150000"/>
          </a:xfrm>
          <a:prstGeom prst="rect">
            <a:avLst/>
          </a:prstGeom>
          <a:noFill/>
        </p:spPr>
        <p:txBody>
          <a:bodyPr wrap="square" lIns="0" rIns="0" tIns="0" bIns="0" anchor="t">
            <a:noAutofit/>
          </a:bodyPr>
          <a:lstStyle/>
          <a:p>
            <a:pPr>
              <a:spcAft>
                <a:spcPts val="300"/>
              </a:spcAft>
            </a:pPr>
            <a:r>
              <a:rPr sz="1600" b="1" i="0" lang="ko-KR">
                <a:solidFill>
                  <a:srgbClr val="1F3A93"/>
                </a:solidFill>
                <a:latin typeface="Noto Sans KR"/>
                <a:ea typeface="Noto Sans KR"/>
                <a:cs typeface="Noto Sans KR"/>
              </a:rPr>
              <a:t>재원</a:t>
            </a:r>
          </a:p>
          <a:p>
            <a:pPr>
              <a:spcAft>
                <a:spcPts val="400"/>
              </a:spcAft>
            </a:pPr>
            <a:r>
              <a:rPr sz="1400" b="0" i="0" lang="ko-KR">
                <a:solidFill>
                  <a:srgbClr val="222222"/>
                </a:solidFill>
                <a:latin typeface="Noto Sans KR"/>
                <a:ea typeface="Noto Sans KR"/>
                <a:cs typeface="Noto Sans KR"/>
              </a:rPr>
              <a:t>정부 R&amp;D 5.5억 원(구매연계형 기준)을 중심으로 1억 원 이상 과제를 2건 이상 병행 신청한다.</a:t>
            </a:r>
          </a:p>
        </p:txBody>
      </p:sp>
      <p:sp>
        <p:nvSpPr>
          <p:cNvPr id="12" name="Rounded Rectangle 11"/>
          <p:cNvSpPr/>
          <p:nvPr/>
        </p:nvSpPr>
        <p:spPr>
          <a:xfrm>
            <a:off x="7600000" y="1200000"/>
            <a:ext cx="4226240" cy="15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20000" y="1400000"/>
            <a:ext cx="3786240" cy="1100000"/>
          </a:xfrm>
          <a:prstGeom prst="rect">
            <a:avLst/>
          </a:prstGeom>
          <a:noFill/>
        </p:spPr>
        <p:txBody>
          <a:bodyPr wrap="square" lIns="0" rIns="0" tIns="0" bIns="0" anchor="t">
            <a:noAutofit/>
          </a:bodyPr>
          <a:lstStyle/>
          <a:p>
            <a:pPr>
              <a:spcAft>
                <a:spcPts val="400"/>
              </a:spcAft>
            </a:pPr>
            <a:r>
              <a:rPr sz="2800" b="1" i="0" lang="ko-KR">
                <a:solidFill>
                  <a:srgbClr val="1F3A93"/>
                </a:solidFill>
                <a:latin typeface="Noto Sans KR"/>
                <a:ea typeface="Noto Sans KR"/>
                <a:cs typeface="Noto Sans KR"/>
              </a:rPr>
              <a:t>연 50~60억 원</a:t>
            </a:r>
          </a:p>
          <a:p>
            <a:pPr>
              <a:spcAft>
                <a:spcPts val="400"/>
              </a:spcAft>
            </a:pPr>
            <a:r>
              <a:rPr sz="1400" b="0" i="0" lang="ko-KR">
                <a:solidFill>
                  <a:srgbClr val="595959"/>
                </a:solidFill>
                <a:latin typeface="Noto Sans KR"/>
                <a:ea typeface="Noto Sans KR"/>
                <a:cs typeface="Noto Sans KR"/>
              </a:rPr>
              <a:t>순찰차 경광등 신규 수요 (당사 가정)</a:t>
            </a:r>
          </a:p>
        </p:txBody>
      </p:sp>
      <p:sp>
        <p:nvSpPr>
          <p:cNvPr id="14" name="Rounded Rectangle 13"/>
          <p:cNvSpPr/>
          <p:nvPr/>
        </p:nvSpPr>
        <p:spPr>
          <a:xfrm>
            <a:off x="7600000" y="2850000"/>
            <a:ext cx="4226240" cy="15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20000" y="3050000"/>
            <a:ext cx="3786240" cy="1100000"/>
          </a:xfrm>
          <a:prstGeom prst="rect">
            <a:avLst/>
          </a:prstGeom>
          <a:noFill/>
        </p:spPr>
        <p:txBody>
          <a:bodyPr wrap="square" lIns="0" rIns="0" tIns="0" bIns="0" anchor="t">
            <a:noAutofit/>
          </a:bodyPr>
          <a:lstStyle/>
          <a:p>
            <a:pPr>
              <a:spcAft>
                <a:spcPts val="400"/>
              </a:spcAft>
            </a:pPr>
            <a:r>
              <a:rPr sz="2800" b="1" i="0" lang="ko-KR">
                <a:solidFill>
                  <a:srgbClr val="1F3A93"/>
                </a:solidFill>
                <a:latin typeface="Noto Sans KR"/>
                <a:ea typeface="Noto Sans KR"/>
                <a:cs typeface="Noto Sans KR"/>
              </a:rPr>
              <a:t>7.3억 원 · 24개월</a:t>
            </a:r>
          </a:p>
          <a:p>
            <a:pPr>
              <a:spcAft>
                <a:spcPts val="400"/>
              </a:spcAft>
            </a:pPr>
            <a:r>
              <a:rPr sz="1400" b="0" i="0" lang="ko-KR">
                <a:solidFill>
                  <a:srgbClr val="595959"/>
                </a:solidFill>
                <a:latin typeface="Noto Sans KR"/>
                <a:ea typeface="Noto Sans KR"/>
                <a:cs typeface="Noto Sans KR"/>
              </a:rPr>
              <a:t>정부 5.5억 원 + 자부담 1.8억 원</a:t>
            </a:r>
          </a:p>
        </p:txBody>
      </p:sp>
      <p:sp>
        <p:nvSpPr>
          <p:cNvPr id="16" name="Rounded Rectangle 15"/>
          <p:cNvSpPr/>
          <p:nvPr/>
        </p:nvSpPr>
        <p:spPr>
          <a:xfrm>
            <a:off x="7600000" y="4500000"/>
            <a:ext cx="4226240" cy="15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20000" y="4700000"/>
            <a:ext cx="3786240" cy="1100000"/>
          </a:xfrm>
          <a:prstGeom prst="rect">
            <a:avLst/>
          </a:prstGeom>
          <a:noFill/>
        </p:spPr>
        <p:txBody>
          <a:bodyPr wrap="square" lIns="0" rIns="0" tIns="0" bIns="0" anchor="t">
            <a:noAutofit/>
          </a:bodyPr>
          <a:lstStyle/>
          <a:p>
            <a:pPr>
              <a:spcAft>
                <a:spcPts val="400"/>
              </a:spcAft>
            </a:pPr>
            <a:r>
              <a:rPr sz="2800" b="1" i="0" lang="ko-KR">
                <a:solidFill>
                  <a:srgbClr val="1F3A93"/>
                </a:solidFill>
                <a:latin typeface="Noto Sans KR"/>
                <a:ea typeface="Noto Sans KR"/>
                <a:cs typeface="Noto Sans KR"/>
              </a:rPr>
              <a:t>TRL 4 → 8</a:t>
            </a:r>
          </a:p>
          <a:p>
            <a:pPr>
              <a:spcAft>
                <a:spcPts val="400"/>
              </a:spcAft>
            </a:pPr>
            <a:r>
              <a:rPr sz="1400" b="0" i="0" lang="ko-KR">
                <a:solidFill>
                  <a:srgbClr val="595959"/>
                </a:solidFill>
                <a:latin typeface="Noto Sans KR"/>
                <a:ea typeface="Noto Sans KR"/>
                <a:cs typeface="Noto Sans KR"/>
              </a:rPr>
              <a:t>순찰차 10대 · 3개월 현장 실증</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왜 지금인가: 세 가지 흐름이 겹친다</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해외는 이미 출시했고, 국내 현장은 준비됐으며, 당사는 핵심 기술이 있다</a:t>
            </a:r>
          </a:p>
        </p:txBody>
      </p:sp>
      <p:sp>
        <p:nvSpPr>
          <p:cNvPr id="4" name="Rounded Rectangle 3"/>
          <p:cNvSpPr/>
          <p:nvPr/>
        </p:nvSpPr>
        <p:spPr>
          <a:xfrm>
            <a:off x="365760" y="1250000"/>
            <a:ext cx="3686826" cy="49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85760" y="1400000"/>
            <a:ext cx="3246826" cy="400000"/>
          </a:xfrm>
          <a:prstGeom prst="rect">
            <a:avLst/>
          </a:prstGeom>
          <a:noFill/>
        </p:spPr>
        <p:txBody>
          <a:bodyPr wrap="square" lIns="0" rIns="0" tIns="0" bIns="0" anchor="t">
            <a:noAutofit/>
          </a:bodyPr>
          <a:lstStyle/>
          <a:p>
            <a:pPr>
              <a:spcAft>
                <a:spcPts val="400"/>
              </a:spcAft>
            </a:pPr>
            <a:r>
              <a:rPr sz="1800" b="1" i="0" lang="ko-KR">
                <a:solidFill>
                  <a:srgbClr val="1F3A93"/>
                </a:solidFill>
                <a:latin typeface="Noto Sans KR"/>
                <a:ea typeface="Noto Sans KR"/>
                <a:cs typeface="Noto Sans KR"/>
              </a:rPr>
              <a:t>해외</a:t>
            </a:r>
          </a:p>
        </p:txBody>
      </p:sp>
      <p:sp>
        <p:nvSpPr>
          <p:cNvPr id="6" name="TextBox 5"/>
          <p:cNvSpPr txBox="1"/>
          <p:nvPr/>
        </p:nvSpPr>
        <p:spPr>
          <a:xfrm>
            <a:off x="585760" y="1950000"/>
            <a:ext cx="3246826" cy="4100000"/>
          </a:xfrm>
          <a:prstGeom prst="rect">
            <a:avLst/>
          </a:prstGeom>
          <a:noFill/>
        </p:spPr>
        <p:txBody>
          <a:bodyPr wrap="square" lIns="0" rIns="0" tIns="0" bIns="0" anchor="t">
            <a:noAutofit/>
          </a:bodyPr>
          <a:lstStyle/>
          <a:p>
            <a:pPr marL="200000" indent="-200000">
              <a:spcAft>
                <a:spcPts val="1400"/>
              </a:spcAft>
              <a:buFont typeface="Arial"/>
              <a:buChar char="•"/>
            </a:pPr>
            <a:r>
              <a:rPr sz="1500" b="0" i="0" lang="ko-KR">
                <a:solidFill>
                  <a:srgbClr val="222222"/>
                </a:solidFill>
                <a:latin typeface="Noto Sans KR"/>
                <a:ea typeface="Noto Sans KR"/>
                <a:cs typeface="Noto Sans KR"/>
              </a:rPr>
              <a:t>2026.3 VITRONIC이 라이트바에 번호판 인식과 레이더 단속을 통합한 제품 공개</a:t>
            </a:r>
          </a:p>
          <a:p>
            <a:pPr marL="200000" indent="-200000">
              <a:spcAft>
                <a:spcPts val="1400"/>
              </a:spcAft>
              <a:buFont typeface="Arial"/>
              <a:buChar char="•"/>
            </a:pPr>
            <a:r>
              <a:rPr sz="1500" b="0" i="0" lang="ko-KR">
                <a:solidFill>
                  <a:srgbClr val="222222"/>
                </a:solidFill>
                <a:latin typeface="Noto Sans KR"/>
                <a:ea typeface="Noto Sans KR"/>
                <a:cs typeface="Noto Sans KR"/>
              </a:rPr>
              <a:t>Ekin, Hikvision, Dahua, GET도 같은 개념의 제품 출시</a:t>
            </a:r>
          </a:p>
          <a:p>
            <a:pPr marL="200000" indent="-200000">
              <a:spcAft>
                <a:spcPts val="1400"/>
              </a:spcAft>
              <a:buFont typeface="Arial"/>
              <a:buChar char="•"/>
            </a:pPr>
            <a:r>
              <a:rPr sz="1500" b="0" i="0" lang="ko-KR">
                <a:solidFill>
                  <a:srgbClr val="222222"/>
                </a:solidFill>
                <a:latin typeface="Noto Sans KR"/>
                <a:ea typeface="Noto Sans KR"/>
                <a:cs typeface="Noto Sans KR"/>
              </a:rPr>
              <a:t>경쟁축이 속도 정확도에서 통합 플랫폼으로 이동</a:t>
            </a:r>
          </a:p>
          <a:p>
            <a:pPr marL="200000" indent="-200000">
              <a:spcAft>
                <a:spcPts val="1400"/>
              </a:spcAft>
              <a:buFont typeface="Arial"/>
              <a:buChar char="•"/>
            </a:pPr>
            <a:r>
              <a:rPr sz="1500" b="0" i="0" lang="ko-KR">
                <a:solidFill>
                  <a:srgbClr val="222222"/>
                </a:solidFill>
                <a:latin typeface="Noto Sans KR"/>
                <a:ea typeface="Noto Sans KR"/>
                <a:cs typeface="Noto Sans KR"/>
              </a:rPr>
              <a:t>국내에는 국산 경광등 일체형 제품이 없음</a:t>
            </a:r>
          </a:p>
        </p:txBody>
      </p:sp>
      <p:sp>
        <p:nvSpPr>
          <p:cNvPr id="7" name="Rounded Rectangle 6"/>
          <p:cNvSpPr/>
          <p:nvPr/>
        </p:nvSpPr>
        <p:spPr>
          <a:xfrm>
            <a:off x="4252586" y="1250000"/>
            <a:ext cx="3686826" cy="49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72586" y="1400000"/>
            <a:ext cx="3246826" cy="400000"/>
          </a:xfrm>
          <a:prstGeom prst="rect">
            <a:avLst/>
          </a:prstGeom>
          <a:noFill/>
        </p:spPr>
        <p:txBody>
          <a:bodyPr wrap="square" lIns="0" rIns="0" tIns="0" bIns="0" anchor="t">
            <a:noAutofit/>
          </a:bodyPr>
          <a:lstStyle/>
          <a:p>
            <a:pPr>
              <a:spcAft>
                <a:spcPts val="400"/>
              </a:spcAft>
            </a:pPr>
            <a:r>
              <a:rPr sz="1800" b="1" i="0" lang="ko-KR">
                <a:solidFill>
                  <a:srgbClr val="1F3A93"/>
                </a:solidFill>
                <a:latin typeface="Noto Sans KR"/>
                <a:ea typeface="Noto Sans KR"/>
                <a:cs typeface="Noto Sans KR"/>
              </a:rPr>
              <a:t>국내</a:t>
            </a:r>
          </a:p>
        </p:txBody>
      </p:sp>
      <p:sp>
        <p:nvSpPr>
          <p:cNvPr id="9" name="TextBox 8"/>
          <p:cNvSpPr txBox="1"/>
          <p:nvPr/>
        </p:nvSpPr>
        <p:spPr>
          <a:xfrm>
            <a:off x="4472586" y="1950000"/>
            <a:ext cx="3246826" cy="4100000"/>
          </a:xfrm>
          <a:prstGeom prst="rect">
            <a:avLst/>
          </a:prstGeom>
          <a:noFill/>
        </p:spPr>
        <p:txBody>
          <a:bodyPr wrap="square" lIns="0" rIns="0" tIns="0" bIns="0" anchor="t">
            <a:noAutofit/>
          </a:bodyPr>
          <a:lstStyle/>
          <a:p>
            <a:pPr marL="200000" indent="-200000">
              <a:spcAft>
                <a:spcPts val="1400"/>
              </a:spcAft>
              <a:buFont typeface="Arial"/>
              <a:buChar char="•"/>
            </a:pPr>
            <a:r>
              <a:rPr sz="1500" b="0" i="0" lang="ko-KR">
                <a:solidFill>
                  <a:srgbClr val="222222"/>
                </a:solidFill>
                <a:latin typeface="Noto Sans KR"/>
                <a:ea typeface="Noto Sans KR"/>
                <a:cs typeface="Noto Sans KR"/>
              </a:rPr>
              <a:t>순찰차 탑재형 과속단속 2022.3 본격 운영, 암행순찰차 중심</a:t>
            </a:r>
          </a:p>
          <a:p>
            <a:pPr marL="200000" indent="-200000">
              <a:spcAft>
                <a:spcPts val="1400"/>
              </a:spcAft>
              <a:buFont typeface="Arial"/>
              <a:buChar char="•"/>
            </a:pPr>
            <a:r>
              <a:rPr sz="1500" b="0" i="0" lang="ko-KR">
                <a:solidFill>
                  <a:srgbClr val="222222"/>
                </a:solidFill>
                <a:latin typeface="Noto Sans KR"/>
                <a:ea typeface="Noto Sans KR"/>
                <a:cs typeface="Noto Sans KR"/>
              </a:rPr>
              <a:t>2025 LED 전광판이 붙은 5세대 리프트 경광등 도입</a:t>
            </a:r>
          </a:p>
          <a:p>
            <a:pPr marL="200000" indent="-200000">
              <a:spcAft>
                <a:spcPts val="1400"/>
              </a:spcAft>
              <a:buFont typeface="Arial"/>
              <a:buChar char="•"/>
            </a:pPr>
            <a:r>
              <a:rPr sz="1500" b="0" i="0" lang="ko-KR">
                <a:solidFill>
                  <a:srgbClr val="222222"/>
                </a:solidFill>
                <a:latin typeface="Noto Sans KR"/>
                <a:ea typeface="Noto Sans KR"/>
                <a:cs typeface="Noto Sans KR"/>
              </a:rPr>
              <a:t>2035년 신규 경찰차 100% 전기·수소차 전환, 특장 재설계 시기</a:t>
            </a:r>
          </a:p>
          <a:p>
            <a:pPr marL="200000" indent="-200000">
              <a:spcAft>
                <a:spcPts val="1400"/>
              </a:spcAft>
              <a:buFont typeface="Arial"/>
              <a:buChar char="•"/>
            </a:pPr>
            <a:r>
              <a:rPr sz="1500" b="0" i="0" lang="ko-KR">
                <a:solidFill>
                  <a:srgbClr val="222222"/>
                </a:solidFill>
                <a:latin typeface="Noto Sans KR"/>
                <a:ea typeface="Noto Sans KR"/>
                <a:cs typeface="Noto Sans KR"/>
              </a:rPr>
              <a:t>연평균 신규 경찰차 약 1,908대</a:t>
            </a:r>
          </a:p>
        </p:txBody>
      </p:sp>
      <p:sp>
        <p:nvSpPr>
          <p:cNvPr id="10" name="Rounded Rectangle 9"/>
          <p:cNvSpPr/>
          <p:nvPr/>
        </p:nvSpPr>
        <p:spPr>
          <a:xfrm>
            <a:off x="8139412" y="1250000"/>
            <a:ext cx="3686826" cy="49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9412" y="1400000"/>
            <a:ext cx="3246826" cy="400000"/>
          </a:xfrm>
          <a:prstGeom prst="rect">
            <a:avLst/>
          </a:prstGeom>
          <a:noFill/>
        </p:spPr>
        <p:txBody>
          <a:bodyPr wrap="square" lIns="0" rIns="0" tIns="0" bIns="0" anchor="t">
            <a:noAutofit/>
          </a:bodyPr>
          <a:lstStyle/>
          <a:p>
            <a:pPr>
              <a:spcAft>
                <a:spcPts val="400"/>
              </a:spcAft>
            </a:pPr>
            <a:r>
              <a:rPr sz="1800" b="1" i="0" lang="ko-KR">
                <a:solidFill>
                  <a:srgbClr val="1F3A93"/>
                </a:solidFill>
                <a:latin typeface="Noto Sans KR"/>
                <a:ea typeface="Noto Sans KR"/>
                <a:cs typeface="Noto Sans KR"/>
              </a:rPr>
              <a:t>당사</a:t>
            </a:r>
          </a:p>
        </p:txBody>
      </p:sp>
      <p:sp>
        <p:nvSpPr>
          <p:cNvPr id="12" name="TextBox 11"/>
          <p:cNvSpPr txBox="1"/>
          <p:nvPr/>
        </p:nvSpPr>
        <p:spPr>
          <a:xfrm>
            <a:off x="8359412" y="1950000"/>
            <a:ext cx="3246826" cy="4100000"/>
          </a:xfrm>
          <a:prstGeom prst="rect">
            <a:avLst/>
          </a:prstGeom>
          <a:noFill/>
        </p:spPr>
        <p:txBody>
          <a:bodyPr wrap="square" lIns="0" rIns="0" tIns="0" bIns="0" anchor="t">
            <a:noAutofit/>
          </a:bodyPr>
          <a:lstStyle/>
          <a:p>
            <a:pPr marL="200000" indent="-200000">
              <a:spcAft>
                <a:spcPts val="1400"/>
              </a:spcAft>
              <a:buFont typeface="Arial"/>
              <a:buChar char="•"/>
            </a:pPr>
            <a:r>
              <a:rPr sz="1500" b="0" i="0" lang="ko-KR">
                <a:solidFill>
                  <a:srgbClr val="222222"/>
                </a:solidFill>
                <a:latin typeface="Noto Sans KR"/>
                <a:ea typeface="Noto Sans KR"/>
                <a:cs typeface="Noto Sans KR"/>
              </a:rPr>
              <a:t>24GHz 레이더 MCRT-100N/R, 경찰 속도규격 충족</a:t>
            </a:r>
          </a:p>
          <a:p>
            <a:pPr marL="200000" indent="-200000">
              <a:spcAft>
                <a:spcPts val="1400"/>
              </a:spcAft>
              <a:buFont typeface="Arial"/>
              <a:buChar char="•"/>
            </a:pPr>
            <a:r>
              <a:rPr sz="1500" b="0" i="0" lang="ko-KR">
                <a:solidFill>
                  <a:srgbClr val="222222"/>
                </a:solidFill>
                <a:latin typeface="Noto Sans KR"/>
                <a:ea typeface="Noto Sans KR"/>
                <a:cs typeface="Noto Sans KR"/>
              </a:rPr>
              <a:t>단속장비사 완제품에 이미 탑재·공급</a:t>
            </a:r>
          </a:p>
          <a:p>
            <a:pPr marL="200000" indent="-200000">
              <a:spcAft>
                <a:spcPts val="1400"/>
              </a:spcAft>
              <a:buFont typeface="Arial"/>
              <a:buChar char="•"/>
            </a:pPr>
            <a:r>
              <a:rPr sz="1500" b="0" i="0" lang="ko-KR">
                <a:solidFill>
                  <a:srgbClr val="222222"/>
                </a:solidFill>
                <a:latin typeface="Noto Sans KR"/>
                <a:ea typeface="Noto Sans KR"/>
                <a:cs typeface="Noto Sans KR"/>
              </a:rPr>
              <a:t>2026 ITS 세계총회에 완제품 출품, 부품에서 완제품으로 전환 결정</a:t>
            </a:r>
          </a:p>
          <a:p>
            <a:pPr marL="200000" indent="-200000">
              <a:spcAft>
                <a:spcPts val="1400"/>
              </a:spcAft>
              <a:buFont typeface="Arial"/>
              <a:buChar char="•"/>
            </a:pPr>
            <a:r>
              <a:rPr sz="1500" b="0" i="0" lang="ko-KR">
                <a:solidFill>
                  <a:srgbClr val="222222"/>
                </a:solidFill>
                <a:latin typeface="Noto Sans KR"/>
                <a:ea typeface="Noto Sans KR"/>
                <a:cs typeface="Noto Sans KR"/>
              </a:rPr>
              <a:t>남은 과제는 이동 플랫폼 신호처리와 경광등 일체 설계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글로벌 5사 비교: 경쟁축은 통합성</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라이트바가 이동식 종합 단속 플랫폼으로 바뀌는 중이다</a:t>
            </a:r>
          </a:p>
        </p:txBody>
      </p:sp>
      <p:graphicFrame>
        <p:nvGraphicFramePr>
          <p:cNvPr id="4" name="Table 3"/>
          <p:cNvGraphicFramePr>
            <a:graphicFrameLocks noGrp="1"/>
          </p:cNvGraphicFramePr>
          <p:nvPr/>
        </p:nvGraphicFramePr>
        <p:xfrm>
          <a:off x="365760" y="1200000"/>
          <a:ext cx="11460480" cy="3120000"/>
        </p:xfrm>
        <a:graphic>
          <a:graphicData uri="http://schemas.openxmlformats.org/drawingml/2006/table">
            <a:tbl>
              <a:tblPr/>
              <a:tblGrid>
                <a:gridCol w="3300000"/>
                <a:gridCol w="5000000"/>
                <a:gridCol w="3160480"/>
              </a:tblGrid>
              <a:tr h="520000">
                <a:tc>
                  <a:txBody>
                    <a:bodyPr wrap="square"/>
                    <a:lstStyle/>
                    <a:p>
                      <a:r>
                        <a:rPr sz="1200" b="1" i="0" lang="ko-KR">
                          <a:solidFill>
                            <a:srgbClr val="FFFFFF"/>
                          </a:solidFill>
                          <a:latin typeface="Noto Sans KR"/>
                          <a:ea typeface="Noto Sans KR"/>
                          <a:cs typeface="Noto Sans KR"/>
                        </a:rPr>
                        <a:t>업체 · 제품</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00" b="1" i="0" lang="ko-KR">
                          <a:solidFill>
                            <a:srgbClr val="FFFFFF"/>
                          </a:solidFill>
                          <a:latin typeface="Noto Sans KR"/>
                          <a:ea typeface="Noto Sans KR"/>
                          <a:cs typeface="Noto Sans KR"/>
                        </a:rPr>
                        <a:t>핵심 구성</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00" b="1" i="0" lang="ko-KR">
                          <a:solidFill>
                            <a:srgbClr val="FFFFFF"/>
                          </a:solidFill>
                          <a:latin typeface="Noto Sans KR"/>
                          <a:ea typeface="Noto Sans KR"/>
                          <a:cs typeface="Noto Sans KR"/>
                        </a:rPr>
                        <a:t>포지셔닝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520000">
                <a:tc>
                  <a:txBody>
                    <a:bodyPr wrap="square"/>
                    <a:lstStyle/>
                    <a:p>
                      <a:r>
                        <a:rPr sz="1200" b="1" i="0" lang="ko-KR">
                          <a:solidFill>
                            <a:srgbClr val="222222"/>
                          </a:solidFill>
                          <a:latin typeface="Noto Sans KR"/>
                          <a:ea typeface="Noto Sans KR"/>
                          <a:cs typeface="Noto Sans KR"/>
                        </a:rPr>
                        <a:t>VITRONIC Poliscan Enforcement Bar</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번호판 인식 + 레이더 속도단속 + 영상증거, 최대 5차선, 4G</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정확한 단속·증거성 (2026.3 공개)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520000">
                <a:tc>
                  <a:txBody>
                    <a:bodyPr wrap="square"/>
                    <a:lstStyle/>
                    <a:p>
                      <a:r>
                        <a:rPr sz="1200" b="1" i="0" lang="ko-KR">
                          <a:solidFill>
                            <a:srgbClr val="222222"/>
                          </a:solidFill>
                          <a:latin typeface="Noto Sans KR"/>
                          <a:ea typeface="Noto Sans KR"/>
                          <a:cs typeface="Noto Sans KR"/>
                        </a:rPr>
                        <a:t>Ekin Patrol G2</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번호판 + 속도 + 주차관리 + 360° 영상, 최대 7차선, 약 20kg</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올인원, 미국 2,500만 달러 투자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520000">
                <a:tc>
                  <a:txBody>
                    <a:bodyPr wrap="square"/>
                    <a:lstStyle/>
                    <a:p>
                      <a:r>
                        <a:rPr sz="1200" b="1" i="0" lang="ko-KR">
                          <a:solidFill>
                            <a:srgbClr val="222222"/>
                          </a:solidFill>
                          <a:latin typeface="Noto Sans KR"/>
                          <a:ea typeface="Noto Sans KR"/>
                          <a:cs typeface="Noto Sans KR"/>
                        </a:rPr>
                        <a:t>Hikvision Intelligent Light Bar</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77GHz 레이더(128 타깃), 최대 320km/h, 중앙 증거관리</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레이더 + 증거관리</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520000">
                <a:tc>
                  <a:txBody>
                    <a:bodyPr wrap="square"/>
                    <a:lstStyle/>
                    <a:p>
                      <a:r>
                        <a:rPr sz="1200" b="1" i="0" lang="ko-KR">
                          <a:solidFill>
                            <a:srgbClr val="222222"/>
                          </a:solidFill>
                          <a:latin typeface="Noto Sans KR"/>
                          <a:ea typeface="Noto Sans KR"/>
                          <a:cs typeface="Noto Sans KR"/>
                        </a:rPr>
                        <a:t>GET Group ADHAM Light Bar</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번호판 + 360° + 얼굴인식 + 속도 레이더, 관제 연동</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보안·관제 통합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520000">
                <a:tc>
                  <a:txBody>
                    <a:bodyPr wrap="square"/>
                    <a:lstStyle/>
                    <a:p>
                      <a:r>
                        <a:rPr sz="1200" b="1" i="0" lang="ko-KR">
                          <a:solidFill>
                            <a:srgbClr val="222222"/>
                          </a:solidFill>
                          <a:latin typeface="Noto Sans KR"/>
                          <a:ea typeface="Noto Sans KR"/>
                          <a:cs typeface="Noto Sans KR"/>
                        </a:rPr>
                        <a:t>Dahua iPatrol Smart Light Bar</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360° + 정밀 레이더 + AI 위반·불법주차 탐지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모바일 스마트 허브</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
        <p:nvSpPr>
          <p:cNvPr id="5" name="Rounded Rectangle 4"/>
          <p:cNvSpPr/>
          <p:nvPr/>
        </p:nvSpPr>
        <p:spPr>
          <a:xfrm>
            <a:off x="365760" y="4520000"/>
            <a:ext cx="11460480" cy="16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760" y="4620000"/>
            <a:ext cx="11020480" cy="1500000"/>
          </a:xfrm>
          <a:prstGeom prst="rect">
            <a:avLst/>
          </a:prstGeom>
          <a:noFill/>
        </p:spPr>
        <p:txBody>
          <a:bodyPr wrap="square" lIns="0" rIns="0" tIns="0" bIns="0" anchor="t">
            <a:noAutofit/>
          </a:bodyPr>
          <a:lstStyle/>
          <a:p>
            <a:pPr>
              <a:spcAft>
                <a:spcPts val="600"/>
              </a:spcAft>
            </a:pPr>
            <a:r>
              <a:rPr sz="1300" b="1" i="0" lang="ko-KR">
                <a:solidFill>
                  <a:srgbClr val="222222"/>
                </a:solidFill>
                <a:latin typeface="Noto Sans KR"/>
                <a:ea typeface="Noto Sans KR"/>
                <a:cs typeface="Noto Sans KR"/>
              </a:rPr>
              <a:t>시사점 ①</a:t>
            </a:r>
            <a:r>
              <a:rPr sz="1300" b="0" i="0" lang="ko-KR">
                <a:solidFill>
                  <a:srgbClr val="222222"/>
                </a:solidFill>
                <a:latin typeface="Noto Sans KR"/>
                <a:ea typeface="Noto Sans KR"/>
                <a:cs typeface="Noto Sans KR"/>
              </a:rPr>
              <a:t> 경쟁이 속도 정확도에서 다기능 통합성으로 옮겨갔다.</a:t>
            </a:r>
          </a:p>
          <a:p>
            <a:pPr>
              <a:spcAft>
                <a:spcPts val="600"/>
              </a:spcAft>
            </a:pPr>
            <a:r>
              <a:rPr sz="1300" b="1" i="0" lang="ko-KR">
                <a:solidFill>
                  <a:srgbClr val="222222"/>
                </a:solidFill>
                <a:latin typeface="Noto Sans KR"/>
                <a:ea typeface="Noto Sans KR"/>
                <a:cs typeface="Noto Sans KR"/>
              </a:rPr>
              <a:t>시사점 ②</a:t>
            </a:r>
            <a:r>
              <a:rPr sz="1300" b="0" i="0" lang="ko-KR">
                <a:solidFill>
                  <a:srgbClr val="222222"/>
                </a:solidFill>
                <a:latin typeface="Noto Sans KR"/>
                <a:ea typeface="Noto Sans KR"/>
                <a:cs typeface="Noto Sans KR"/>
              </a:rPr>
              <a:t> 통합 라이트바 구조 특허(US9002313B2)는 2026.8.30 만료되어 구조는 자유 실시가 가능하다.</a:t>
            </a:r>
          </a:p>
          <a:p>
            <a:pPr>
              <a:spcAft>
                <a:spcPts val="600"/>
              </a:spcAft>
            </a:pPr>
            <a:r>
              <a:rPr sz="1300" b="1" i="0" lang="ko-KR">
                <a:solidFill>
                  <a:srgbClr val="222222"/>
                </a:solidFill>
                <a:latin typeface="Noto Sans KR"/>
                <a:ea typeface="Noto Sans KR"/>
                <a:cs typeface="Noto Sans KR"/>
              </a:rPr>
              <a:t>시사점 ③</a:t>
            </a:r>
            <a:r>
              <a:rPr sz="1300" b="0" i="0" lang="ko-KR">
                <a:solidFill>
                  <a:srgbClr val="222222"/>
                </a:solidFill>
                <a:latin typeface="Noto Sans KR"/>
                <a:ea typeface="Noto Sans KR"/>
                <a:cs typeface="Noto Sans KR"/>
              </a:rPr>
              <a:t> Ekin 3건은 2034~2040년 유효하다. 번호판·얼굴 인식을 넣지 않은 T2로 회피 설계하고 한국 출원 여부를 확인한다.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해외 제품의 일체형 구조: 공개 특허 도면</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해외 제조사는 경광등 하우징 안에 센서를 넣는 구조를 이미 특허로 확보했다</a:t>
            </a:r>
          </a:p>
        </p:txBody>
      </p:sp>
      <p:sp>
        <p:nvSpPr>
          <p:cNvPr id="4" name="Rounded Rectangle 3"/>
          <p:cNvSpPr/>
          <p:nvPr/>
        </p:nvSpPr>
        <p:spPr>
          <a:xfrm>
            <a:off x="365760" y="1200000"/>
            <a:ext cx="5630240" cy="23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85760" y="1320000"/>
            <a:ext cx="2900000" cy="20600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특허 도면 Federal Signal · US9002313B2" descr="US9002313B2_FederalSignal.png"/>
          <p:cNvPicPr>
            <a:picLocks noChangeAspect="1"/>
          </p:cNvPicPr>
          <p:nvPr/>
        </p:nvPicPr>
        <p:blipFill>
          <a:blip r:embed="rId3"/>
          <a:stretch>
            <a:fillRect/>
          </a:stretch>
        </p:blipFill>
        <p:spPr>
          <a:xfrm>
            <a:off x="968808" y="1360000"/>
            <a:ext cx="1933904" cy="1980000"/>
          </a:xfrm>
          <a:prstGeom prst="rect">
            <a:avLst/>
          </a:prstGeom>
        </p:spPr>
      </p:pic>
      <p:sp>
        <p:nvSpPr>
          <p:cNvPr id="7" name="TextBox 6"/>
          <p:cNvSpPr txBox="1"/>
          <p:nvPr/>
        </p:nvSpPr>
        <p:spPr>
          <a:xfrm>
            <a:off x="3515760" y="1350000"/>
            <a:ext cx="2360240" cy="2000000"/>
          </a:xfrm>
          <a:prstGeom prst="rect">
            <a:avLst/>
          </a:prstGeom>
          <a:noFill/>
        </p:spPr>
        <p:txBody>
          <a:bodyPr wrap="square" lIns="0" rIns="0" tIns="0" bIns="0" anchor="t">
            <a:noAutofit/>
          </a:bodyPr>
          <a:lstStyle/>
          <a:p>
            <a:pPr>
              <a:spcAft>
                <a:spcPts val="600"/>
              </a:spcAft>
            </a:pPr>
            <a:r>
              <a:rPr sz="1400" b="1" i="0" lang="ko-KR">
                <a:solidFill>
                  <a:srgbClr val="1F3A93"/>
                </a:solidFill>
                <a:latin typeface="Noto Sans KR"/>
                <a:ea typeface="Noto Sans KR"/>
                <a:cs typeface="Noto Sans KR"/>
              </a:rPr>
              <a:t>Federal Signal · US9002313B2</a:t>
            </a:r>
          </a:p>
          <a:p>
            <a:pPr>
              <a:spcAft>
                <a:spcPts val="600"/>
              </a:spcAft>
            </a:pPr>
            <a:r>
              <a:rPr sz="1200" b="0" i="0" lang="ko-KR">
                <a:solidFill>
                  <a:srgbClr val="222222"/>
                </a:solidFill>
                <a:latin typeface="Noto Sans KR"/>
                <a:ea typeface="Noto Sans KR"/>
                <a:cs typeface="Noto Sans KR"/>
              </a:rPr>
              <a:t>경광등 하우징 안에 레이더·카메라·번호판 인식·GPS·통신 모듈을 선택 탑재</a:t>
            </a:r>
          </a:p>
          <a:p>
            <a:pPr>
              <a:spcAft>
                <a:spcPts val="300"/>
              </a:spcAft>
            </a:pPr>
            <a:r>
              <a:rPr sz="1100" b="0" i="0" lang="ko-KR">
                <a:solidFill>
                  <a:srgbClr val="595959"/>
                </a:solidFill>
                <a:latin typeface="Noto Sans KR"/>
                <a:ea typeface="Noto Sans KR"/>
                <a:cs typeface="Noto Sans KR"/>
              </a:rPr>
              <a:t>권리 상태: 2026.8.30 만료, 구조 자유 실시</a:t>
            </a:r>
          </a:p>
          <a:p>
            <a:pPr>
              <a:spcAft>
                <a:spcPts val="400"/>
              </a:spcAft>
            </a:pPr>
            <a:r>
              <a:rPr sz="1100" b="0" i="0" lang="ko-KR">
                <a:solidFill>
                  <a:srgbClr val="595959"/>
                </a:solidFill>
                <a:latin typeface="Noto Sans KR"/>
                <a:ea typeface="Noto Sans KR"/>
                <a:cs typeface="Noto Sans KR"/>
              </a:rPr>
              <a:t>그림: 하우징 내부 구성</a:t>
            </a:r>
          </a:p>
        </p:txBody>
      </p:sp>
      <p:sp>
        <p:nvSpPr>
          <p:cNvPr id="8" name="Rounded Rectangle 7"/>
          <p:cNvSpPr/>
          <p:nvPr/>
        </p:nvSpPr>
        <p:spPr>
          <a:xfrm>
            <a:off x="6196000" y="1200000"/>
            <a:ext cx="5630240" cy="23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16000" y="1320000"/>
            <a:ext cx="2900000" cy="20600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특허 도면 Ekin · US9791766B2" descr="US9791766B2_Ekin.png"/>
          <p:cNvPicPr>
            <a:picLocks noChangeAspect="1"/>
          </p:cNvPicPr>
          <p:nvPr/>
        </p:nvPicPr>
        <p:blipFill>
          <a:blip r:embed="rId4"/>
          <a:stretch>
            <a:fillRect/>
          </a:stretch>
        </p:blipFill>
        <p:spPr>
          <a:xfrm>
            <a:off x="6356000" y="2050000"/>
            <a:ext cx="2820000" cy="600000"/>
          </a:xfrm>
          <a:prstGeom prst="rect">
            <a:avLst/>
          </a:prstGeom>
        </p:spPr>
      </p:pic>
      <p:sp>
        <p:nvSpPr>
          <p:cNvPr id="11" name="TextBox 10"/>
          <p:cNvSpPr txBox="1"/>
          <p:nvPr/>
        </p:nvSpPr>
        <p:spPr>
          <a:xfrm>
            <a:off x="9346000" y="1350000"/>
            <a:ext cx="2360240" cy="2000000"/>
          </a:xfrm>
          <a:prstGeom prst="rect">
            <a:avLst/>
          </a:prstGeom>
          <a:noFill/>
        </p:spPr>
        <p:txBody>
          <a:bodyPr wrap="square" lIns="0" rIns="0" tIns="0" bIns="0" anchor="t">
            <a:noAutofit/>
          </a:bodyPr>
          <a:lstStyle/>
          <a:p>
            <a:pPr>
              <a:spcAft>
                <a:spcPts val="600"/>
              </a:spcAft>
            </a:pPr>
            <a:r>
              <a:rPr sz="1400" b="1" i="0" lang="ko-KR">
                <a:solidFill>
                  <a:srgbClr val="1F3A93"/>
                </a:solidFill>
                <a:latin typeface="Noto Sans KR"/>
                <a:ea typeface="Noto Sans KR"/>
                <a:cs typeface="Noto Sans KR"/>
              </a:rPr>
              <a:t>Ekin · US9791766B2</a:t>
            </a:r>
          </a:p>
          <a:p>
            <a:pPr>
              <a:spcAft>
                <a:spcPts val="600"/>
              </a:spcAft>
            </a:pPr>
            <a:r>
              <a:rPr sz="1200" b="0" i="0" lang="ko-KR">
                <a:solidFill>
                  <a:srgbClr val="222222"/>
                </a:solidFill>
                <a:latin typeface="Noto Sans KR"/>
                <a:ea typeface="Noto Sans KR"/>
                <a:cs typeface="Noto Sans KR"/>
              </a:rPr>
              <a:t>복수 카메라와 LED, 경광등을 한 몸체로 묶은 차량 장착형 장치</a:t>
            </a:r>
          </a:p>
          <a:p>
            <a:pPr>
              <a:spcAft>
                <a:spcPts val="300"/>
              </a:spcAft>
            </a:pPr>
            <a:r>
              <a:rPr sz="1100" b="0" i="0" lang="ko-KR">
                <a:solidFill>
                  <a:srgbClr val="595959"/>
                </a:solidFill>
                <a:latin typeface="Noto Sans KR"/>
                <a:ea typeface="Noto Sans KR"/>
                <a:cs typeface="Noto Sans KR"/>
              </a:rPr>
              <a:t>권리 상태: 2034.1까지 유효</a:t>
            </a:r>
          </a:p>
          <a:p>
            <a:pPr>
              <a:spcAft>
                <a:spcPts val="400"/>
              </a:spcAft>
            </a:pPr>
            <a:r>
              <a:rPr sz="1100" b="0" i="0" lang="ko-KR">
                <a:solidFill>
                  <a:srgbClr val="595959"/>
                </a:solidFill>
                <a:latin typeface="Noto Sans KR"/>
                <a:ea typeface="Noto Sans KR"/>
                <a:cs typeface="Noto Sans KR"/>
              </a:rPr>
              <a:t>그림: 라이트바 외형</a:t>
            </a:r>
          </a:p>
        </p:txBody>
      </p:sp>
      <p:sp>
        <p:nvSpPr>
          <p:cNvPr id="12" name="Rounded Rectangle 11"/>
          <p:cNvSpPr/>
          <p:nvPr/>
        </p:nvSpPr>
        <p:spPr>
          <a:xfrm>
            <a:off x="365760" y="3650000"/>
            <a:ext cx="5630240" cy="23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85760" y="3770000"/>
            <a:ext cx="2900000" cy="20600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특허 도면 Ekin · US10946793B1" descr="US10946793B1_Ekin.png"/>
          <p:cNvPicPr>
            <a:picLocks noChangeAspect="1"/>
          </p:cNvPicPr>
          <p:nvPr/>
        </p:nvPicPr>
        <p:blipFill>
          <a:blip r:embed="rId5"/>
          <a:stretch>
            <a:fillRect/>
          </a:stretch>
        </p:blipFill>
        <p:spPr>
          <a:xfrm>
            <a:off x="835938" y="3810000"/>
            <a:ext cx="2199643" cy="1980000"/>
          </a:xfrm>
          <a:prstGeom prst="rect">
            <a:avLst/>
          </a:prstGeom>
        </p:spPr>
      </p:pic>
      <p:sp>
        <p:nvSpPr>
          <p:cNvPr id="15" name="TextBox 14"/>
          <p:cNvSpPr txBox="1"/>
          <p:nvPr/>
        </p:nvSpPr>
        <p:spPr>
          <a:xfrm>
            <a:off x="3515760" y="3800000"/>
            <a:ext cx="2360240" cy="2000000"/>
          </a:xfrm>
          <a:prstGeom prst="rect">
            <a:avLst/>
          </a:prstGeom>
          <a:noFill/>
        </p:spPr>
        <p:txBody>
          <a:bodyPr wrap="square" lIns="0" rIns="0" tIns="0" bIns="0" anchor="t">
            <a:noAutofit/>
          </a:bodyPr>
          <a:lstStyle/>
          <a:p>
            <a:pPr>
              <a:spcAft>
                <a:spcPts val="600"/>
              </a:spcAft>
            </a:pPr>
            <a:r>
              <a:rPr sz="1400" b="1" i="0" lang="ko-KR">
                <a:solidFill>
                  <a:srgbClr val="1F3A93"/>
                </a:solidFill>
                <a:latin typeface="Noto Sans KR"/>
                <a:ea typeface="Noto Sans KR"/>
                <a:cs typeface="Noto Sans KR"/>
              </a:rPr>
              <a:t>Ekin · US10946793B1</a:t>
            </a:r>
          </a:p>
          <a:p>
            <a:pPr>
              <a:spcAft>
                <a:spcPts val="600"/>
              </a:spcAft>
            </a:pPr>
            <a:r>
              <a:rPr sz="1200" b="0" i="0" lang="ko-KR">
                <a:solidFill>
                  <a:srgbClr val="222222"/>
                </a:solidFill>
                <a:latin typeface="Noto Sans KR"/>
                <a:ea typeface="Noto Sans KR"/>
                <a:cs typeface="Noto Sans KR"/>
              </a:rPr>
              <a:t>순찰차에 후장착하는 스마트 라이트바, 센서 결과로 위협을 평가해 경고</a:t>
            </a:r>
          </a:p>
          <a:p>
            <a:pPr>
              <a:spcAft>
                <a:spcPts val="300"/>
              </a:spcAft>
            </a:pPr>
            <a:r>
              <a:rPr sz="1100" b="0" i="0" lang="ko-KR">
                <a:solidFill>
                  <a:srgbClr val="595959"/>
                </a:solidFill>
                <a:latin typeface="Noto Sans KR"/>
                <a:ea typeface="Noto Sans KR"/>
                <a:cs typeface="Noto Sans KR"/>
              </a:rPr>
              <a:t>권리 상태: 2040.4까지 유효</a:t>
            </a:r>
          </a:p>
          <a:p>
            <a:pPr>
              <a:spcAft>
                <a:spcPts val="400"/>
              </a:spcAft>
            </a:pPr>
            <a:r>
              <a:rPr sz="1100" b="0" i="0" lang="ko-KR">
                <a:solidFill>
                  <a:srgbClr val="595959"/>
                </a:solidFill>
                <a:latin typeface="Noto Sans KR"/>
                <a:ea typeface="Noto Sans KR"/>
                <a:cs typeface="Noto Sans KR"/>
              </a:rPr>
              <a:t>그림: 순찰차 장착 형태</a:t>
            </a:r>
          </a:p>
        </p:txBody>
      </p:sp>
      <p:sp>
        <p:nvSpPr>
          <p:cNvPr id="16" name="Rounded Rectangle 15"/>
          <p:cNvSpPr/>
          <p:nvPr/>
        </p:nvSpPr>
        <p:spPr>
          <a:xfrm>
            <a:off x="6196000" y="3650000"/>
            <a:ext cx="5630240" cy="23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16000" y="3770000"/>
            <a:ext cx="2900000" cy="2060000"/>
          </a:xfrm>
          <a:prstGeom prst="roundRect">
            <a:avLst>
              <a:gd name="adj" fmla="val 3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특허 도면 Ekin · US9928737B2" descr="US9928737B2_Ekin.png"/>
          <p:cNvPicPr>
            <a:picLocks noChangeAspect="1"/>
          </p:cNvPicPr>
          <p:nvPr/>
        </p:nvPicPr>
        <p:blipFill>
          <a:blip r:embed="rId6"/>
          <a:stretch>
            <a:fillRect/>
          </a:stretch>
        </p:blipFill>
        <p:spPr>
          <a:xfrm>
            <a:off x="7209904" y="3810000"/>
            <a:ext cx="1112191" cy="1980000"/>
          </a:xfrm>
          <a:prstGeom prst="rect">
            <a:avLst/>
          </a:prstGeom>
        </p:spPr>
      </p:pic>
      <p:sp>
        <p:nvSpPr>
          <p:cNvPr id="19" name="TextBox 18"/>
          <p:cNvSpPr txBox="1"/>
          <p:nvPr/>
        </p:nvSpPr>
        <p:spPr>
          <a:xfrm>
            <a:off x="9346000" y="3800000"/>
            <a:ext cx="2360240" cy="2000000"/>
          </a:xfrm>
          <a:prstGeom prst="rect">
            <a:avLst/>
          </a:prstGeom>
          <a:noFill/>
        </p:spPr>
        <p:txBody>
          <a:bodyPr wrap="square" lIns="0" rIns="0" tIns="0" bIns="0" anchor="t">
            <a:noAutofit/>
          </a:bodyPr>
          <a:lstStyle/>
          <a:p>
            <a:pPr>
              <a:spcAft>
                <a:spcPts val="600"/>
              </a:spcAft>
            </a:pPr>
            <a:r>
              <a:rPr sz="1400" b="1" i="0" lang="ko-KR">
                <a:solidFill>
                  <a:srgbClr val="1F3A93"/>
                </a:solidFill>
                <a:latin typeface="Noto Sans KR"/>
                <a:ea typeface="Noto Sans KR"/>
                <a:cs typeface="Noto Sans KR"/>
              </a:rPr>
              <a:t>Ekin · US9928737B2</a:t>
            </a:r>
          </a:p>
          <a:p>
            <a:pPr>
              <a:spcAft>
                <a:spcPts val="600"/>
              </a:spcAft>
            </a:pPr>
            <a:r>
              <a:rPr sz="1200" b="0" i="0" lang="ko-KR">
                <a:solidFill>
                  <a:srgbClr val="222222"/>
                </a:solidFill>
                <a:latin typeface="Noto Sans KR"/>
                <a:ea typeface="Noto Sans KR"/>
                <a:cs typeface="Noto Sans KR"/>
              </a:rPr>
              <a:t>번호판 인식과 레이더 속도정보를 연계하는 차량 탑재형 구조</a:t>
            </a:r>
          </a:p>
          <a:p>
            <a:pPr>
              <a:spcAft>
                <a:spcPts val="300"/>
              </a:spcAft>
            </a:pPr>
            <a:r>
              <a:rPr sz="1100" b="0" i="0" lang="ko-KR">
                <a:solidFill>
                  <a:srgbClr val="595959"/>
                </a:solidFill>
                <a:latin typeface="Noto Sans KR"/>
                <a:ea typeface="Noto Sans KR"/>
                <a:cs typeface="Noto Sans KR"/>
              </a:rPr>
              <a:t>권리 상태: 2034.12까지 유효</a:t>
            </a:r>
          </a:p>
          <a:p>
            <a:pPr>
              <a:spcAft>
                <a:spcPts val="400"/>
              </a:spcAft>
            </a:pPr>
            <a:r>
              <a:rPr sz="1100" b="0" i="0" lang="ko-KR">
                <a:solidFill>
                  <a:srgbClr val="595959"/>
                </a:solidFill>
                <a:latin typeface="Noto Sans KR"/>
                <a:ea typeface="Noto Sans KR"/>
                <a:cs typeface="Noto Sans KR"/>
              </a:rPr>
              <a:t>그림: 라이트바 구조</a:t>
            </a:r>
          </a:p>
        </p:txBody>
      </p:sp>
      <p:sp>
        <p:nvSpPr>
          <p:cNvPr id="20" name="TextBox 19"/>
          <p:cNvSpPr txBox="1"/>
          <p:nvPr/>
        </p:nvSpPr>
        <p:spPr>
          <a:xfrm>
            <a:off x="365760" y="6030000"/>
            <a:ext cx="11460480" cy="260000"/>
          </a:xfrm>
          <a:prstGeom prst="rect">
            <a:avLst/>
          </a:prstGeom>
          <a:noFill/>
        </p:spPr>
        <p:txBody>
          <a:bodyPr wrap="square" lIns="0" rIns="0" tIns="0" bIns="0" anchor="t">
            <a:noAutofit/>
          </a:bodyPr>
          <a:lstStyle/>
          <a:p>
            <a:pPr>
              <a:spcAft>
                <a:spcPts val="400"/>
              </a:spcAft>
            </a:pPr>
            <a:r>
              <a:rPr sz="1000" b="0" i="0" lang="ko-KR">
                <a:solidFill>
                  <a:srgbClr val="595959"/>
                </a:solidFill>
                <a:latin typeface="Noto Sans KR"/>
                <a:ea typeface="Noto Sans KR"/>
                <a:cs typeface="Noto Sans KR"/>
              </a:rPr>
              <a:t>출처: 엠클라비스 경광등 특허 조사(2026.4) 수록 공개 도면. 제품 사진이 아니며 VITRONIC·Hikvision·GET·Dahua는 조사한 특허 도면이 없어 제외했다.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현장 경찰관이 필요로 하는 이유 5가지</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경찰관 선호도 조사는 찾지 못했다. 아래는 필요의 근거이며 선호는 실증에서 검증한다</a:t>
            </a:r>
          </a:p>
        </p:txBody>
      </p:sp>
      <p:graphicFrame>
        <p:nvGraphicFramePr>
          <p:cNvPr id="4" name="Table 3"/>
          <p:cNvGraphicFramePr>
            <a:graphicFrameLocks noGrp="1"/>
          </p:cNvGraphicFramePr>
          <p:nvPr/>
        </p:nvGraphicFramePr>
        <p:xfrm>
          <a:off x="365760" y="1200000"/>
          <a:ext cx="11460480" cy="4560000"/>
        </p:xfrm>
        <a:graphic>
          <a:graphicData uri="http://schemas.openxmlformats.org/drawingml/2006/table">
            <a:tbl>
              <a:tblPr/>
              <a:tblGrid>
                <a:gridCol w="700000"/>
                <a:gridCol w="3600000"/>
                <a:gridCol w="5760480"/>
                <a:gridCol w="1400000"/>
              </a:tblGrid>
              <a:tr h="760000">
                <a:tc>
                  <a:txBody>
                    <a:bodyPr wrap="square"/>
                    <a:lstStyle/>
                    <a:p>
                      <a:pPr algn="ctr"/>
                      <a:r>
                        <a:rPr sz="1300" b="1" i="0" lang="ko-KR">
                          <a:solidFill>
                            <a:srgbClr val="FFFFFF"/>
                          </a:solidFill>
                          <a:latin typeface="Noto Sans KR"/>
                          <a:ea typeface="Noto Sans KR"/>
                          <a:cs typeface="Noto Sans KR"/>
                        </a:rPr>
                        <a:t>번호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300" b="1" i="0" lang="ko-KR">
                          <a:solidFill>
                            <a:srgbClr val="FFFFFF"/>
                          </a:solidFill>
                          <a:latin typeface="Noto Sans KR"/>
                          <a:ea typeface="Noto Sans KR"/>
                          <a:cs typeface="Noto Sans KR"/>
                        </a:rPr>
                        <a:t>경찰관이 선호할 이유(가설)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300" b="1" i="0" lang="ko-KR">
                          <a:solidFill>
                            <a:srgbClr val="FFFFFF"/>
                          </a:solidFill>
                          <a:latin typeface="Noto Sans KR"/>
                          <a:ea typeface="Noto Sans KR"/>
                          <a:cs typeface="Noto Sans KR"/>
                        </a:rPr>
                        <a:t>핵심 근거</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300" b="1" i="0" lang="ko-KR">
                          <a:solidFill>
                            <a:srgbClr val="FFFFFF"/>
                          </a:solidFill>
                          <a:latin typeface="Noto Sans KR"/>
                          <a:ea typeface="Noto Sans KR"/>
                          <a:cs typeface="Noto Sans KR"/>
                        </a:rPr>
                        <a:t>근거 수준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760000">
                <a:tc>
                  <a:txBody>
                    <a:bodyPr wrap="square"/>
                    <a:lstStyle/>
                    <a:p>
                      <a:pPr algn="ctr"/>
                      <a:r>
                        <a:rPr sz="1300" b="0" i="0" lang="ko-KR">
                          <a:solidFill>
                            <a:srgbClr val="222222"/>
                          </a:solidFill>
                          <a:latin typeface="Noto Sans KR"/>
                          <a:ea typeface="Noto Sans KR"/>
                          <a:cs typeface="Noto Sans KR"/>
                        </a:rPr>
                        <a:t>1</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사고 처리 중 뒤에서 오는 차량이 가장 무섭다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고속도로순찰 업무 중 교통사고로 다치거나 숨진 경찰관 5년간 34명, 2026년 1월 사고 수습 중 경찰관 사망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300" b="0" i="0" lang="ko-KR">
                          <a:solidFill>
                            <a:srgbClr val="222222"/>
                          </a:solidFill>
                          <a:latin typeface="Noto Sans KR"/>
                          <a:ea typeface="Noto Sans KR"/>
                          <a:cs typeface="Noto Sans KR"/>
                        </a:rPr>
                        <a:t>강함</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760000">
                <a:tc>
                  <a:txBody>
                    <a:bodyPr wrap="square"/>
                    <a:lstStyle/>
                    <a:p>
                      <a:pPr algn="ctr"/>
                      <a:r>
                        <a:rPr sz="1300" b="0" i="0" lang="ko-KR">
                          <a:solidFill>
                            <a:srgbClr val="222222"/>
                          </a:solidFill>
                          <a:latin typeface="Noto Sans KR"/>
                          <a:ea typeface="Noto Sans KR"/>
                          <a:cs typeface="Noto Sans KR"/>
                        </a:rPr>
                        <a:t>2</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2차사고는 한 번 나면 치명적이다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2차사고 치사율이 일반사고의 약 5~6.5배, 2026년 1~5월 고속도로 2차사고 사망자 급증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300" b="0" i="0" lang="ko-KR">
                          <a:solidFill>
                            <a:srgbClr val="222222"/>
                          </a:solidFill>
                          <a:latin typeface="Noto Sans KR"/>
                          <a:ea typeface="Noto Sans KR"/>
                          <a:cs typeface="Noto Sans KR"/>
                        </a:rPr>
                        <a:t>강함</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760000">
                <a:tc>
                  <a:txBody>
                    <a:bodyPr wrap="square"/>
                    <a:lstStyle/>
                    <a:p>
                      <a:pPr algn="ctr"/>
                      <a:r>
                        <a:rPr sz="1300" b="0" i="0" lang="ko-KR">
                          <a:solidFill>
                            <a:srgbClr val="222222"/>
                          </a:solidFill>
                          <a:latin typeface="Noto Sans KR"/>
                          <a:ea typeface="Noto Sans KR"/>
                          <a:cs typeface="Noto Sans KR"/>
                        </a:rPr>
                        <a:t>3</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경찰이 이미 경광등으로 안전을 해결해 왔다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2014년 순직 사고를 계기로 리프트 경광등 개발, 2015년 188대 투입 후 일선 호평 보도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300" b="0" i="0" lang="ko-KR">
                          <a:solidFill>
                            <a:srgbClr val="222222"/>
                          </a:solidFill>
                          <a:latin typeface="Noto Sans KR"/>
                          <a:ea typeface="Noto Sans KR"/>
                          <a:cs typeface="Noto Sans KR"/>
                        </a:rPr>
                        <a:t>중간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760000">
                <a:tc>
                  <a:txBody>
                    <a:bodyPr wrap="square"/>
                    <a:lstStyle/>
                    <a:p>
                      <a:pPr algn="ctr"/>
                      <a:r>
                        <a:rPr sz="1300" b="0" i="0" lang="ko-KR">
                          <a:solidFill>
                            <a:srgbClr val="222222"/>
                          </a:solidFill>
                          <a:latin typeface="Noto Sans KR"/>
                          <a:ea typeface="Noto Sans KR"/>
                          <a:cs typeface="Noto Sans KR"/>
                        </a:rPr>
                        <a:t>4</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일반 순찰차도 주행 중 단속하고 싶다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탑재형 단속 시범 중 과속 사고 82%·사망 89% 감소(경찰청 발표), 사망사고 69.8%가 단속장비 없는 구간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300" b="0" i="0" lang="ko-KR">
                          <a:solidFill>
                            <a:srgbClr val="222222"/>
                          </a:solidFill>
                          <a:latin typeface="Noto Sans KR"/>
                          <a:ea typeface="Noto Sans KR"/>
                          <a:cs typeface="Noto Sans KR"/>
                        </a:rPr>
                        <a:t>중간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760000">
                <a:tc>
                  <a:txBody>
                    <a:bodyPr wrap="square"/>
                    <a:lstStyle/>
                    <a:p>
                      <a:pPr algn="ctr"/>
                      <a:r>
                        <a:rPr sz="1300" b="0" i="0" lang="ko-KR">
                          <a:solidFill>
                            <a:srgbClr val="222222"/>
                          </a:solidFill>
                          <a:latin typeface="Noto Sans KR"/>
                          <a:ea typeface="Noto Sans KR"/>
                          <a:cs typeface="Noto Sans KR"/>
                        </a:rPr>
                        <a:t>5</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해외 경찰도 같은 문제를 장비로 풀고 있다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미국 경찰 순직 원인 1위가 차량 관련(2014~2016년 35~38%), 해외 5사가 라이트바에 센서 통합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300" b="0" i="0" lang="ko-KR">
                          <a:solidFill>
                            <a:srgbClr val="222222"/>
                          </a:solidFill>
                          <a:latin typeface="Noto Sans KR"/>
                          <a:ea typeface="Noto Sans KR"/>
                          <a:cs typeface="Noto Sans KR"/>
                        </a:rPr>
                        <a:t>중간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
        <p:nvSpPr>
          <p:cNvPr id="5" name="TextBox 4"/>
          <p:cNvSpPr txBox="1"/>
          <p:nvPr/>
        </p:nvSpPr>
        <p:spPr>
          <a:xfrm>
            <a:off x="365760" y="5910000"/>
            <a:ext cx="11460480" cy="400000"/>
          </a:xfrm>
          <a:prstGeom prst="rect">
            <a:avLst/>
          </a:prstGeom>
          <a:noFill/>
        </p:spPr>
        <p:txBody>
          <a:bodyPr wrap="square" lIns="0" rIns="0" tIns="0" bIns="0" anchor="t">
            <a:noAutofit/>
          </a:bodyPr>
          <a:lstStyle/>
          <a:p>
            <a:pPr>
              <a:spcAft>
                <a:spcPts val="400"/>
              </a:spcAft>
            </a:pPr>
            <a:r>
              <a:rPr sz="1200" b="0" i="0" lang="ko-KR">
                <a:solidFill>
                  <a:srgbClr val="595959"/>
                </a:solidFill>
                <a:latin typeface="Noto Sans KR"/>
                <a:ea typeface="Noto Sans KR"/>
                <a:cs typeface="Noto Sans KR"/>
              </a:rPr>
              <a:t>수치는 모두 언론 보도 기준이며 원문 사이트에 접속하지 못해 검색 요약으로 확인했다. 제안서에 인용하기 전에 원문 대조가 필요하다.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근거 ①②: 2차사고 피해와 치사율</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사고를 수습하는 경찰관이 치사율이 높은 2차사고에 가장 가까이 노출된다</a:t>
            </a:r>
          </a:p>
        </p:txBody>
      </p:sp>
      <p:graphicFrame>
        <p:nvGraphicFramePr>
          <p:cNvPr id="4" name="Chart 3"/>
          <p:cNvGraphicFramePr>
            <a:graphicFrameLocks noGrp="1"/>
          </p:cNvGraphicFramePr>
          <p:nvPr/>
        </p:nvGraphicFramePr>
        <p:xfrm>
          <a:off x="365760" y="1200000"/>
          <a:ext cx="5500000" cy="350000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200000" y="1200000"/>
          <a:ext cx="5626240" cy="3500000"/>
        </p:xfrm>
        <a:graphic>
          <a:graphicData uri="http://schemas.openxmlformats.org/drawingml/2006/chart">
            <c:chart xmlns:c="http://schemas.openxmlformats.org/drawingml/2006/chart" r:id="rId4"/>
          </a:graphicData>
        </a:graphic>
      </p:graphicFrame>
      <p:sp>
        <p:nvSpPr>
          <p:cNvPr id="6" name="TextBox 5"/>
          <p:cNvSpPr txBox="1"/>
          <p:nvPr/>
        </p:nvSpPr>
        <p:spPr>
          <a:xfrm>
            <a:off x="365760" y="4800000"/>
            <a:ext cx="11460480" cy="700000"/>
          </a:xfrm>
          <a:prstGeom prst="rect">
            <a:avLst/>
          </a:prstGeom>
          <a:noFill/>
        </p:spPr>
        <p:txBody>
          <a:bodyPr wrap="square" lIns="0" rIns="0" tIns="0" bIns="0" anchor="t">
            <a:noAutofit/>
          </a:bodyPr>
          <a:lstStyle/>
          <a:p>
            <a:pPr>
              <a:spcAft>
                <a:spcPts val="400"/>
              </a:spcAft>
            </a:pPr>
            <a:r>
              <a:rPr sz="1000" b="0" i="0" lang="ko-KR">
                <a:solidFill>
                  <a:srgbClr val="595959"/>
                </a:solidFill>
                <a:latin typeface="Noto Sans KR"/>
                <a:ea typeface="Noto Sans KR"/>
                <a:cs typeface="Noto Sans KR"/>
              </a:rPr>
              <a:t>출처: 네이트뉴스 2026.1.10(5년간 34명, 연도별은 부상 33명 보도), 전북일보 2025.9.1(한국도로공사 기준, 6.5배). 최근 3년 기준 5배(YTN 2026.7.9) 보도도 있어 제안서에는 한 출처만 인용한다.</a:t>
            </a:r>
          </a:p>
        </p:txBody>
      </p:sp>
      <p:sp>
        <p:nvSpPr>
          <p:cNvPr id="7" name="Rounded Rectangle 6"/>
          <p:cNvSpPr/>
          <p:nvPr/>
        </p:nvSpPr>
        <p:spPr>
          <a:xfrm>
            <a:off x="365760" y="5450000"/>
            <a:ext cx="11460480" cy="8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760" y="5500000"/>
            <a:ext cx="11020480" cy="700000"/>
          </a:xfrm>
          <a:prstGeom prst="rect">
            <a:avLst/>
          </a:prstGeom>
          <a:noFill/>
        </p:spPr>
        <p:txBody>
          <a:bodyPr wrap="square" lIns="0" rIns="0" tIns="0" bIns="0" anchor="ctr">
            <a:noAutofit/>
          </a:bodyPr>
          <a:lstStyle/>
          <a:p>
            <a:pPr>
              <a:spcAft>
                <a:spcPts val="400"/>
              </a:spcAft>
            </a:pPr>
            <a:r>
              <a:rPr sz="1200" b="0" i="0" lang="ko-KR">
                <a:solidFill>
                  <a:srgbClr val="222222"/>
                </a:solidFill>
                <a:latin typeface="Noto Sans KR"/>
                <a:ea typeface="Noto Sans KR"/>
                <a:cs typeface="Noto Sans KR"/>
              </a:rPr>
              <a:t>2026년 1월 서해안고속도로에서 사고를 수습하던 경찰관과 견인차 기사가 숨졌다. 2026년 1~5월 고속도로 2차사고 사망자도 급증했다.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리프트 경광등 호평에서 다음 단계로</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경찰은 안전을 이유로 경광등에 투자해 왔고, 다음 단계는 감지하는 경광등이다</a:t>
            </a:r>
          </a:p>
        </p:txBody>
      </p:sp>
      <p:cxnSp>
        <p:nvCxnSpPr>
          <p:cNvPr id="4" name="Connector 3"/>
          <p:cNvCxnSpPr/>
          <p:nvPr/>
        </p:nvCxnSpPr>
        <p:spPr>
          <a:xfrm>
            <a:off x="1320800" y="1650000"/>
            <a:ext cx="9550400" cy="0"/>
          </a:xfrm>
          <a:prstGeom prst="line">
            <a:avLst/>
          </a:prstGeom>
          <a:ln w="25400">
            <a:solidFill>
              <a:srgbClr val="BFBFB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840800" y="1270000"/>
            <a:ext cx="960000" cy="76000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300" b="1" i="0" lang="ko-KR">
                <a:solidFill>
                  <a:srgbClr val="FFFFFF"/>
                </a:solidFill>
                <a:latin typeface="Noto Sans KR"/>
                <a:ea typeface="Noto Sans KR"/>
                <a:cs typeface="Noto Sans KR"/>
              </a:rPr>
              <a:t>2014</a:t>
            </a:r>
          </a:p>
        </p:txBody>
      </p:sp>
      <p:sp>
        <p:nvSpPr>
          <p:cNvPr id="6" name="TextBox 5"/>
          <p:cNvSpPr txBox="1"/>
          <p:nvPr/>
        </p:nvSpPr>
        <p:spPr>
          <a:xfrm>
            <a:off x="425760" y="2250000"/>
            <a:ext cx="1790080" cy="2200000"/>
          </a:xfrm>
          <a:prstGeom prst="rect">
            <a:avLst/>
          </a:prstGeom>
          <a:noFill/>
        </p:spPr>
        <p:txBody>
          <a:bodyPr wrap="square" lIns="0" rIns="0" tIns="0" bIns="0" anchor="t">
            <a:noAutofit/>
          </a:bodyPr>
          <a:lstStyle/>
          <a:p>
            <a:pPr algn="l">
              <a:spcAft>
                <a:spcPts val="400"/>
              </a:spcAft>
            </a:pPr>
            <a:r>
              <a:rPr sz="1300" b="0" i="0" lang="ko-KR">
                <a:solidFill>
                  <a:srgbClr val="222222"/>
                </a:solidFill>
                <a:latin typeface="Noto Sans KR"/>
                <a:ea typeface="Noto Sans KR"/>
                <a:cs typeface="Noto Sans KR"/>
              </a:rPr>
              <a:t>여주 경감 순직을 계기로 리프트 경광등 개발 추진(출처 재확인 필요)</a:t>
            </a:r>
          </a:p>
        </p:txBody>
      </p:sp>
      <p:sp>
        <p:nvSpPr>
          <p:cNvPr id="7" name="Oval 6"/>
          <p:cNvSpPr/>
          <p:nvPr/>
        </p:nvSpPr>
        <p:spPr>
          <a:xfrm>
            <a:off x="2750880" y="1270000"/>
            <a:ext cx="960000" cy="76000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300" b="1" i="0" lang="ko-KR">
                <a:solidFill>
                  <a:srgbClr val="FFFFFF"/>
                </a:solidFill>
                <a:latin typeface="Noto Sans KR"/>
                <a:ea typeface="Noto Sans KR"/>
                <a:cs typeface="Noto Sans KR"/>
              </a:rPr>
              <a:t>2015</a:t>
            </a:r>
          </a:p>
        </p:txBody>
      </p:sp>
      <p:sp>
        <p:nvSpPr>
          <p:cNvPr id="8" name="TextBox 7"/>
          <p:cNvSpPr txBox="1"/>
          <p:nvPr/>
        </p:nvSpPr>
        <p:spPr>
          <a:xfrm>
            <a:off x="2335840" y="2250000"/>
            <a:ext cx="1790080" cy="2200000"/>
          </a:xfrm>
          <a:prstGeom prst="rect">
            <a:avLst/>
          </a:prstGeom>
          <a:noFill/>
        </p:spPr>
        <p:txBody>
          <a:bodyPr wrap="square" lIns="0" rIns="0" tIns="0" bIns="0" anchor="t">
            <a:noAutofit/>
          </a:bodyPr>
          <a:lstStyle/>
          <a:p>
            <a:pPr algn="l">
              <a:spcAft>
                <a:spcPts val="400"/>
              </a:spcAft>
            </a:pPr>
            <a:r>
              <a:rPr sz="1300" b="0" i="0" lang="ko-KR">
                <a:solidFill>
                  <a:srgbClr val="222222"/>
                </a:solidFill>
                <a:latin typeface="Noto Sans KR"/>
                <a:ea typeface="Noto Sans KR"/>
                <a:cs typeface="Noto Sans KR"/>
              </a:rPr>
              <a:t>방향표시 리프트 경광등 순찰차 188대 투입, 전방 3~4km 가시, 일선 호평</a:t>
            </a:r>
          </a:p>
        </p:txBody>
      </p:sp>
      <p:sp>
        <p:nvSpPr>
          <p:cNvPr id="9" name="Oval 8"/>
          <p:cNvSpPr/>
          <p:nvPr/>
        </p:nvSpPr>
        <p:spPr>
          <a:xfrm>
            <a:off x="4660960" y="1270000"/>
            <a:ext cx="960000" cy="76000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300" b="1" i="0" lang="ko-KR">
                <a:solidFill>
                  <a:srgbClr val="FFFFFF"/>
                </a:solidFill>
                <a:latin typeface="Noto Sans KR"/>
                <a:ea typeface="Noto Sans KR"/>
                <a:cs typeface="Noto Sans KR"/>
              </a:rPr>
              <a:t>2022</a:t>
            </a:r>
          </a:p>
        </p:txBody>
      </p:sp>
      <p:sp>
        <p:nvSpPr>
          <p:cNvPr id="10" name="TextBox 9"/>
          <p:cNvSpPr txBox="1"/>
          <p:nvPr/>
        </p:nvSpPr>
        <p:spPr>
          <a:xfrm>
            <a:off x="4245920" y="2250000"/>
            <a:ext cx="1790080" cy="2200000"/>
          </a:xfrm>
          <a:prstGeom prst="rect">
            <a:avLst/>
          </a:prstGeom>
          <a:noFill/>
        </p:spPr>
        <p:txBody>
          <a:bodyPr wrap="square" lIns="0" rIns="0" tIns="0" bIns="0" anchor="t">
            <a:noAutofit/>
          </a:bodyPr>
          <a:lstStyle/>
          <a:p>
            <a:pPr algn="l">
              <a:spcAft>
                <a:spcPts val="400"/>
              </a:spcAft>
            </a:pPr>
            <a:r>
              <a:rPr sz="1300" b="0" i="0" lang="ko-KR">
                <a:solidFill>
                  <a:srgbClr val="222222"/>
                </a:solidFill>
                <a:latin typeface="Noto Sans KR"/>
                <a:ea typeface="Noto Sans KR"/>
                <a:cs typeface="Noto Sans KR"/>
              </a:rPr>
              <a:t>순찰차 탑재형 과속단속 본격 운영, 시범 중 과속 사고·사망 감소 발표</a:t>
            </a:r>
          </a:p>
        </p:txBody>
      </p:sp>
      <p:sp>
        <p:nvSpPr>
          <p:cNvPr id="11" name="Oval 10"/>
          <p:cNvSpPr/>
          <p:nvPr/>
        </p:nvSpPr>
        <p:spPr>
          <a:xfrm>
            <a:off x="6571040" y="1270000"/>
            <a:ext cx="960000" cy="76000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300" b="1" i="0" lang="ko-KR">
                <a:solidFill>
                  <a:srgbClr val="FFFFFF"/>
                </a:solidFill>
                <a:latin typeface="Noto Sans KR"/>
                <a:ea typeface="Noto Sans KR"/>
                <a:cs typeface="Noto Sans KR"/>
              </a:rPr>
              <a:t>2024</a:t>
            </a:r>
          </a:p>
        </p:txBody>
      </p:sp>
      <p:sp>
        <p:nvSpPr>
          <p:cNvPr id="12" name="TextBox 11"/>
          <p:cNvSpPr txBox="1"/>
          <p:nvPr/>
        </p:nvSpPr>
        <p:spPr>
          <a:xfrm>
            <a:off x="6156000" y="2250000"/>
            <a:ext cx="1790080" cy="2200000"/>
          </a:xfrm>
          <a:prstGeom prst="rect">
            <a:avLst/>
          </a:prstGeom>
          <a:noFill/>
        </p:spPr>
        <p:txBody>
          <a:bodyPr wrap="square" lIns="0" rIns="0" tIns="0" bIns="0" anchor="t">
            <a:noAutofit/>
          </a:bodyPr>
          <a:lstStyle/>
          <a:p>
            <a:pPr algn="l">
              <a:spcAft>
                <a:spcPts val="400"/>
              </a:spcAft>
            </a:pPr>
            <a:r>
              <a:rPr sz="1300" b="0" i="0" lang="ko-KR">
                <a:solidFill>
                  <a:srgbClr val="222222"/>
                </a:solidFill>
                <a:latin typeface="Noto Sans KR"/>
                <a:ea typeface="Noto Sans KR"/>
                <a:cs typeface="Noto Sans KR"/>
              </a:rPr>
              <a:t>전기 다목적 순찰차 181대, 고속순찰차 89대에 리프트 경광등 납품</a:t>
            </a:r>
          </a:p>
        </p:txBody>
      </p:sp>
      <p:sp>
        <p:nvSpPr>
          <p:cNvPr id="13" name="Oval 12"/>
          <p:cNvSpPr/>
          <p:nvPr/>
        </p:nvSpPr>
        <p:spPr>
          <a:xfrm>
            <a:off x="8481120" y="1270000"/>
            <a:ext cx="960000" cy="760000"/>
          </a:xfrm>
          <a:prstGeom prst="ellips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300" b="1" i="0" lang="ko-KR">
                <a:solidFill>
                  <a:srgbClr val="FFFFFF"/>
                </a:solidFill>
                <a:latin typeface="Noto Sans KR"/>
                <a:ea typeface="Noto Sans KR"/>
                <a:cs typeface="Noto Sans KR"/>
              </a:rPr>
              <a:t>2025</a:t>
            </a:r>
          </a:p>
        </p:txBody>
      </p:sp>
      <p:sp>
        <p:nvSpPr>
          <p:cNvPr id="14" name="TextBox 13"/>
          <p:cNvSpPr txBox="1"/>
          <p:nvPr/>
        </p:nvSpPr>
        <p:spPr>
          <a:xfrm>
            <a:off x="8066080" y="2250000"/>
            <a:ext cx="1790080" cy="2200000"/>
          </a:xfrm>
          <a:prstGeom prst="rect">
            <a:avLst/>
          </a:prstGeom>
          <a:noFill/>
        </p:spPr>
        <p:txBody>
          <a:bodyPr wrap="square" lIns="0" rIns="0" tIns="0" bIns="0" anchor="t">
            <a:noAutofit/>
          </a:bodyPr>
          <a:lstStyle/>
          <a:p>
            <a:pPr algn="l">
              <a:spcAft>
                <a:spcPts val="400"/>
              </a:spcAft>
            </a:pPr>
            <a:r>
              <a:rPr sz="1300" b="0" i="0" lang="ko-KR">
                <a:solidFill>
                  <a:srgbClr val="222222"/>
                </a:solidFill>
                <a:latin typeface="Noto Sans KR"/>
                <a:ea typeface="Noto Sans KR"/>
                <a:cs typeface="Noto Sans KR"/>
              </a:rPr>
              <a:t>후면 LED 전광판이 붙은 5세대 도입</a:t>
            </a:r>
          </a:p>
        </p:txBody>
      </p:sp>
      <p:sp>
        <p:nvSpPr>
          <p:cNvPr id="15" name="Oval 14"/>
          <p:cNvSpPr/>
          <p:nvPr/>
        </p:nvSpPr>
        <p:spPr>
          <a:xfrm>
            <a:off x="10391200" y="1270000"/>
            <a:ext cx="960000" cy="760000"/>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300" b="1" i="0" lang="ko-KR">
                <a:solidFill>
                  <a:srgbClr val="FFFFFF"/>
                </a:solidFill>
                <a:latin typeface="Noto Sans KR"/>
                <a:ea typeface="Noto Sans KR"/>
                <a:cs typeface="Noto Sans KR"/>
              </a:rPr>
              <a:t>다음</a:t>
            </a:r>
          </a:p>
        </p:txBody>
      </p:sp>
      <p:sp>
        <p:nvSpPr>
          <p:cNvPr id="16" name="TextBox 15"/>
          <p:cNvSpPr txBox="1"/>
          <p:nvPr/>
        </p:nvSpPr>
        <p:spPr>
          <a:xfrm>
            <a:off x="9976160" y="2250000"/>
            <a:ext cx="1790080" cy="2200000"/>
          </a:xfrm>
          <a:prstGeom prst="rect">
            <a:avLst/>
          </a:prstGeom>
          <a:noFill/>
        </p:spPr>
        <p:txBody>
          <a:bodyPr wrap="square" lIns="0" rIns="0" tIns="0" bIns="0" anchor="t">
            <a:noAutofit/>
          </a:bodyPr>
          <a:lstStyle/>
          <a:p>
            <a:pPr algn="l">
              <a:spcAft>
                <a:spcPts val="400"/>
              </a:spcAft>
            </a:pPr>
            <a:r>
              <a:rPr sz="1300" b="0" i="0" lang="ko-KR">
                <a:solidFill>
                  <a:srgbClr val="222222"/>
                </a:solidFill>
                <a:latin typeface="Noto Sans KR"/>
                <a:ea typeface="Noto Sans KR"/>
                <a:cs typeface="Noto Sans KR"/>
              </a:rPr>
              <a:t>감지하는 경광등: 후방 접근 경보와 주행 중 속도 검지</a:t>
            </a:r>
          </a:p>
        </p:txBody>
      </p:sp>
      <p:sp>
        <p:nvSpPr>
          <p:cNvPr id="17" name="Rounded Rectangle 16"/>
          <p:cNvSpPr/>
          <p:nvPr/>
        </p:nvSpPr>
        <p:spPr>
          <a:xfrm>
            <a:off x="365760" y="4700000"/>
            <a:ext cx="11460480" cy="15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760" y="4800000"/>
            <a:ext cx="10960480" cy="130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현재 경광등의 한계</a:t>
            </a:r>
          </a:p>
          <a:p>
            <a:pPr>
              <a:spcAft>
                <a:spcPts val="400"/>
              </a:spcAft>
            </a:pPr>
            <a:r>
              <a:rPr sz="1500" b="0" i="0" lang="ko-KR">
                <a:solidFill>
                  <a:srgbClr val="222222"/>
                </a:solidFill>
                <a:latin typeface="Noto Sans KR"/>
                <a:ea typeface="Noto Sans KR"/>
                <a:cs typeface="Noto Sans KR"/>
              </a:rPr>
              <a:t>경광등은 경고를 표출할 뿐 접근하는 차량이 위험한지 감지하지 못한다. 본 제품은 이 한계를 메운다.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현재 조달 구조: 경광등은 차량 패키지의 일부</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수요기관은 특장업체를 고를 뿐 경광등 브랜드를 고르지 않는다</a:t>
            </a:r>
          </a:p>
        </p:txBody>
      </p:sp>
      <p:sp>
        <p:nvSpPr>
          <p:cNvPr id="4" name="Rounded Rectangle 3"/>
          <p:cNvSpPr/>
          <p:nvPr/>
        </p:nvSpPr>
        <p:spPr>
          <a:xfrm>
            <a:off x="365760" y="1250000"/>
            <a:ext cx="6400000" cy="650000"/>
          </a:xfrm>
          <a:prstGeom prst="round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400" b="1" i="0" lang="ko-KR">
                <a:solidFill>
                  <a:srgbClr val="FFFFFF"/>
                </a:solidFill>
                <a:latin typeface="Noto Sans KR"/>
                <a:ea typeface="Noto Sans KR"/>
                <a:cs typeface="Noto Sans KR"/>
              </a:rPr>
              <a:t>경찰청 · 시도경찰청 (수요기관)</a:t>
            </a:r>
          </a:p>
        </p:txBody>
      </p:sp>
      <p:sp>
        <p:nvSpPr>
          <p:cNvPr id="5" name="TextBox 4"/>
          <p:cNvSpPr txBox="1"/>
          <p:nvPr/>
        </p:nvSpPr>
        <p:spPr>
          <a:xfrm>
            <a:off x="365760" y="1990000"/>
            <a:ext cx="6400000" cy="480000"/>
          </a:xfrm>
          <a:prstGeom prst="rect">
            <a:avLst/>
          </a:prstGeom>
          <a:noFill/>
        </p:spPr>
        <p:txBody>
          <a:bodyPr wrap="square" lIns="0" rIns="0" tIns="0" bIns="0" anchor="ctr">
            <a:noAutofit/>
          </a:bodyPr>
          <a:lstStyle/>
          <a:p>
            <a:pPr algn="ctr">
              <a:spcAft>
                <a:spcPts val="400"/>
              </a:spcAft>
            </a:pPr>
            <a:r>
              <a:rPr sz="1100" b="0" i="0" lang="ko-KR">
                <a:solidFill>
                  <a:srgbClr val="595959"/>
                </a:solidFill>
                <a:latin typeface="Noto Sans KR"/>
                <a:ea typeface="Noto Sans KR"/>
                <a:cs typeface="Noto Sans KR"/>
              </a:rPr>
              <a:t>종합쇼핑몰 납품요구 · 제3자단가계약 · 차량과 동시구매</a:t>
            </a:r>
          </a:p>
        </p:txBody>
      </p:sp>
      <p:sp>
        <p:nvSpPr>
          <p:cNvPr id="6" name="Rounded Rectangle 5"/>
          <p:cNvSpPr/>
          <p:nvPr/>
        </p:nvSpPr>
        <p:spPr>
          <a:xfrm>
            <a:off x="365760" y="2550000"/>
            <a:ext cx="3125000" cy="800000"/>
          </a:xfrm>
          <a:prstGeom prst="roundRect">
            <a:avLst/>
          </a:prstGeom>
          <a:solidFill>
            <a:srgbClr val="EEF3FA"/>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400" b="1" i="0" lang="ko-KR">
                <a:solidFill>
                  <a:srgbClr val="222222"/>
                </a:solidFill>
                <a:latin typeface="Noto Sans KR"/>
                <a:ea typeface="Noto Sans KR"/>
                <a:cs typeface="Noto Sans KR"/>
              </a:rPr>
              <a:t>현대자동차 등</a:t>
            </a:r>
          </a:p>
          <a:p>
            <a:pPr algn="ctr"/>
            <a:r>
              <a:rPr sz="1400" b="1" i="0" lang="ko-KR">
                <a:solidFill>
                  <a:srgbClr val="222222"/>
                </a:solidFill>
                <a:latin typeface="Noto Sans KR"/>
                <a:ea typeface="Noto Sans KR"/>
                <a:cs typeface="Noto Sans KR"/>
              </a:rPr>
              <a:t>차량 본체</a:t>
            </a:r>
          </a:p>
        </p:txBody>
      </p:sp>
      <p:sp>
        <p:nvSpPr>
          <p:cNvPr id="7" name="Rounded Rectangle 6"/>
          <p:cNvSpPr/>
          <p:nvPr/>
        </p:nvSpPr>
        <p:spPr>
          <a:xfrm>
            <a:off x="3640760" y="2550000"/>
            <a:ext cx="3125000" cy="800000"/>
          </a:xfrm>
          <a:prstGeom prst="round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400" b="1" i="0" lang="ko-KR">
                <a:solidFill>
                  <a:srgbClr val="FFFFFF"/>
                </a:solidFill>
                <a:latin typeface="Noto Sans KR"/>
                <a:ea typeface="Noto Sans KR"/>
                <a:cs typeface="Noto Sans KR"/>
              </a:rPr>
              <a:t>㈜나눔컴퍼니 (특장)</a:t>
            </a:r>
          </a:p>
          <a:p>
            <a:pPr algn="ctr"/>
            <a:r>
              <a:rPr sz="1400" b="1" i="0" lang="ko-KR">
                <a:solidFill>
                  <a:srgbClr val="FFFFFF"/>
                </a:solidFill>
                <a:latin typeface="Noto Sans KR"/>
                <a:ea typeface="Noto Sans KR"/>
                <a:cs typeface="Noto Sans KR"/>
              </a:rPr>
              <a:t>패키지용품 · 도장</a:t>
            </a:r>
          </a:p>
        </p:txBody>
      </p:sp>
      <p:sp>
        <p:nvSpPr>
          <p:cNvPr id="8" name="TextBox 7"/>
          <p:cNvSpPr txBox="1"/>
          <p:nvPr/>
        </p:nvSpPr>
        <p:spPr>
          <a:xfrm>
            <a:off x="3640760" y="3430000"/>
            <a:ext cx="3125000" cy="480000"/>
          </a:xfrm>
          <a:prstGeom prst="rect">
            <a:avLst/>
          </a:prstGeom>
          <a:noFill/>
        </p:spPr>
        <p:txBody>
          <a:bodyPr wrap="square" lIns="0" rIns="0" tIns="0" bIns="0" anchor="ctr">
            <a:noAutofit/>
          </a:bodyPr>
          <a:lstStyle/>
          <a:p>
            <a:pPr algn="ctr">
              <a:spcAft>
                <a:spcPts val="400"/>
              </a:spcAft>
            </a:pPr>
            <a:r>
              <a:rPr sz="1100" b="0" i="0" lang="ko-KR">
                <a:solidFill>
                  <a:srgbClr val="595959"/>
                </a:solidFill>
                <a:latin typeface="Noto Sans KR"/>
                <a:ea typeface="Noto Sans KR"/>
                <a:cs typeface="Noto Sans KR"/>
              </a:rPr>
              <a:t>리프트경광등 · 사이렌앰프 · 써치라이트</a:t>
            </a:r>
          </a:p>
        </p:txBody>
      </p:sp>
      <p:sp>
        <p:nvSpPr>
          <p:cNvPr id="9" name="Rounded Rectangle 8"/>
          <p:cNvSpPr/>
          <p:nvPr/>
        </p:nvSpPr>
        <p:spPr>
          <a:xfrm>
            <a:off x="3640760" y="4000000"/>
            <a:ext cx="3125000" cy="800000"/>
          </a:xfrm>
          <a:prstGeom prst="roundRect">
            <a:avLst/>
          </a:prstGeom>
          <a:solidFill>
            <a:srgbClr val="EEF3FA"/>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400" b="1" i="0" lang="ko-KR">
                <a:solidFill>
                  <a:srgbClr val="222222"/>
                </a:solidFill>
                <a:latin typeface="Noto Sans KR"/>
                <a:ea typeface="Noto Sans KR"/>
                <a:cs typeface="Noto Sans KR"/>
              </a:rPr>
              <a:t>경광등 제조사(하도급)</a:t>
            </a:r>
          </a:p>
          <a:p>
            <a:pPr algn="ctr"/>
            <a:r>
              <a:rPr sz="1400" b="1" i="0" lang="ko-KR">
                <a:solidFill>
                  <a:srgbClr val="222222"/>
                </a:solidFill>
                <a:latin typeface="Noto Sans KR"/>
                <a:ea typeface="Noto Sans KR"/>
                <a:cs typeface="Noto Sans KR"/>
              </a:rPr>
              <a:t>경찰청과 직접 계약 없음</a:t>
            </a:r>
          </a:p>
        </p:txBody>
      </p:sp>
      <p:sp>
        <p:nvSpPr>
          <p:cNvPr id="10" name="TextBox 9"/>
          <p:cNvSpPr txBox="1"/>
          <p:nvPr/>
        </p:nvSpPr>
        <p:spPr>
          <a:xfrm>
            <a:off x="365760" y="5000000"/>
            <a:ext cx="6400000" cy="1100000"/>
          </a:xfrm>
          <a:prstGeom prst="rect">
            <a:avLst/>
          </a:prstGeom>
          <a:noFill/>
        </p:spPr>
        <p:txBody>
          <a:bodyPr wrap="square" lIns="0" rIns="0" tIns="0" bIns="0" anchor="t">
            <a:noAutofit/>
          </a:bodyPr>
          <a:lstStyle/>
          <a:p>
            <a:pPr>
              <a:spcAft>
                <a:spcPts val="400"/>
              </a:spcAft>
            </a:pPr>
            <a:r>
              <a:rPr sz="1400" b="0" i="0" lang="ko-KR">
                <a:solidFill>
                  <a:srgbClr val="222222"/>
                </a:solidFill>
                <a:latin typeface="Noto Sans KR"/>
                <a:ea typeface="Noto Sans KR"/>
                <a:cs typeface="Noto Sans KR"/>
              </a:rPr>
              <a:t>경광등은 세부품명 경광등이 아니라 패키지용품으로 구매된다. 경광등만 따로 사야 할 이유, 곧 레이더 기반 단속·안전 기능이 있어야 직납이 가능하다.</a:t>
            </a:r>
          </a:p>
        </p:txBody>
      </p:sp>
      <p:graphicFrame>
        <p:nvGraphicFramePr>
          <p:cNvPr id="11" name="Table 10"/>
          <p:cNvGraphicFramePr>
            <a:graphicFrameLocks noGrp="1"/>
          </p:cNvGraphicFramePr>
          <p:nvPr/>
        </p:nvGraphicFramePr>
        <p:xfrm>
          <a:off x="7100000" y="1250000"/>
          <a:ext cx="4726240" cy="3200000"/>
        </p:xfrm>
        <a:graphic>
          <a:graphicData uri="http://schemas.openxmlformats.org/drawingml/2006/table">
            <a:tbl>
              <a:tblPr/>
              <a:tblGrid>
                <a:gridCol w="1900000"/>
                <a:gridCol w="750000"/>
                <a:gridCol w="900000"/>
                <a:gridCol w="1176240"/>
              </a:tblGrid>
              <a:tr h="640000">
                <a:tc>
                  <a:txBody>
                    <a:bodyPr wrap="square"/>
                    <a:lstStyle/>
                    <a:p>
                      <a:r>
                        <a:rPr sz="1200" b="1" i="0" lang="ko-KR">
                          <a:solidFill>
                            <a:srgbClr val="FFFFFF"/>
                          </a:solidFill>
                          <a:latin typeface="Noto Sans KR"/>
                          <a:ea typeface="Noto Sans KR"/>
                          <a:cs typeface="Noto Sans KR"/>
                        </a:rPr>
                        <a:t>2024년 납품요구</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r"/>
                      <a:r>
                        <a:rPr sz="1200" b="1" i="0" lang="ko-KR">
                          <a:solidFill>
                            <a:srgbClr val="FFFFFF"/>
                          </a:solidFill>
                          <a:latin typeface="Noto Sans KR"/>
                          <a:ea typeface="Noto Sans KR"/>
                          <a:cs typeface="Noto Sans KR"/>
                        </a:rPr>
                        <a:t>수량</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r"/>
                      <a:r>
                        <a:rPr sz="1200" b="1" i="0" lang="ko-KR">
                          <a:solidFill>
                            <a:srgbClr val="FFFFFF"/>
                          </a:solidFill>
                          <a:latin typeface="Noto Sans KR"/>
                          <a:ea typeface="Noto Sans KR"/>
                          <a:cs typeface="Noto Sans KR"/>
                        </a:rPr>
                        <a:t>단가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r"/>
                      <a:r>
                        <a:rPr sz="1200" b="1" i="0" lang="ko-KR">
                          <a:solidFill>
                            <a:srgbClr val="FFFFFF"/>
                          </a:solidFill>
                          <a:latin typeface="Noto Sans KR"/>
                          <a:ea typeface="Noto Sans KR"/>
                          <a:cs typeface="Noto Sans KR"/>
                        </a:rPr>
                        <a:t>금액</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640000">
                <a:tc>
                  <a:txBody>
                    <a:bodyPr wrap="square"/>
                    <a:lstStyle/>
                    <a:p>
                      <a:r>
                        <a:rPr sz="1200" b="0" i="0" lang="ko-KR">
                          <a:solidFill>
                            <a:srgbClr val="222222"/>
                          </a:solidFill>
                          <a:latin typeface="Noto Sans KR"/>
                          <a:ea typeface="Noto Sans KR"/>
                          <a:cs typeface="Noto Sans KR"/>
                        </a:rPr>
                        <a:t>전기다목적순찰차</a:t>
                      </a:r>
                    </a:p>
                    <a:p>
                      <a:r>
                        <a:rPr sz="1200" b="0" i="0" lang="ko-KR">
                          <a:solidFill>
                            <a:srgbClr val="222222"/>
                          </a:solidFill>
                          <a:latin typeface="Noto Sans KR"/>
                          <a:ea typeface="Noto Sans KR"/>
                          <a:cs typeface="Noto Sans KR"/>
                        </a:rPr>
                        <a:t>리프트경광등 외 2종</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181대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490만 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8.87억 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0" i="0" lang="ko-KR">
                          <a:solidFill>
                            <a:srgbClr val="222222"/>
                          </a:solidFill>
                          <a:latin typeface="Noto Sans KR"/>
                          <a:ea typeface="Noto Sans KR"/>
                          <a:cs typeface="Noto Sans KR"/>
                        </a:rPr>
                        <a:t>고속순찰차</a:t>
                      </a:r>
                    </a:p>
                    <a:p>
                      <a:r>
                        <a:rPr sz="1200" b="0" i="0" lang="ko-KR">
                          <a:solidFill>
                            <a:srgbClr val="222222"/>
                          </a:solidFill>
                          <a:latin typeface="Noto Sans KR"/>
                          <a:ea typeface="Noto Sans KR"/>
                          <a:cs typeface="Noto Sans KR"/>
                        </a:rPr>
                        <a:t>리프트경광등 설치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89대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370만 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3.29억 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0" i="0" lang="ko-KR">
                          <a:solidFill>
                            <a:srgbClr val="222222"/>
                          </a:solidFill>
                          <a:latin typeface="Noto Sans KR"/>
                          <a:ea typeface="Noto Sans KR"/>
                          <a:cs typeface="Noto Sans KR"/>
                        </a:rPr>
                        <a:t>암행순찰차</a:t>
                      </a:r>
                    </a:p>
                    <a:p>
                      <a:r>
                        <a:rPr sz="1200" b="0" i="0" lang="ko-KR">
                          <a:solidFill>
                            <a:srgbClr val="222222"/>
                          </a:solidFill>
                          <a:latin typeface="Noto Sans KR"/>
                          <a:ea typeface="Noto Sans KR"/>
                          <a:cs typeface="Noto Sans KR"/>
                        </a:rPr>
                        <a:t>그릴경광등 외 2종</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26대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80만 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2,080만 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0" i="0" lang="ko-KR">
                          <a:solidFill>
                            <a:srgbClr val="222222"/>
                          </a:solidFill>
                          <a:latin typeface="Noto Sans KR"/>
                          <a:ea typeface="Noto Sans KR"/>
                          <a:cs typeface="Noto Sans KR"/>
                        </a:rPr>
                        <a:t>상용 순찰차</a:t>
                      </a:r>
                    </a:p>
                    <a:p>
                      <a:r>
                        <a:rPr sz="1200" b="0" i="0" lang="ko-KR">
                          <a:solidFill>
                            <a:srgbClr val="222222"/>
                          </a:solidFill>
                          <a:latin typeface="Noto Sans KR"/>
                          <a:ea typeface="Noto Sans KR"/>
                          <a:cs typeface="Noto Sans KR"/>
                        </a:rPr>
                        <a:t>리프트경광등 외 3종</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2대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695만 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r"/>
                      <a:r>
                        <a:rPr sz="1200" b="0" i="0" lang="ko-KR">
                          <a:solidFill>
                            <a:srgbClr val="222222"/>
                          </a:solidFill>
                          <a:latin typeface="Noto Sans KR"/>
                          <a:ea typeface="Noto Sans KR"/>
                          <a:cs typeface="Noto Sans KR"/>
                        </a:rPr>
                        <a:t>1,390만 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
        <p:nvSpPr>
          <p:cNvPr id="12" name="TextBox 11"/>
          <p:cNvSpPr txBox="1"/>
          <p:nvPr/>
        </p:nvSpPr>
        <p:spPr>
          <a:xfrm>
            <a:off x="7100000" y="4650000"/>
            <a:ext cx="4726240" cy="1500000"/>
          </a:xfrm>
          <a:prstGeom prst="rect">
            <a:avLst/>
          </a:prstGeom>
          <a:noFill/>
        </p:spPr>
        <p:txBody>
          <a:bodyPr wrap="square" lIns="0" rIns="0" tIns="0" bIns="0" anchor="t">
            <a:noAutofit/>
          </a:bodyPr>
          <a:lstStyle/>
          <a:p>
            <a:pPr>
              <a:spcAft>
                <a:spcPts val="600"/>
              </a:spcAft>
            </a:pPr>
            <a:r>
              <a:rPr sz="1400" b="0" i="0" lang="ko-KR">
                <a:solidFill>
                  <a:srgbClr val="222222"/>
                </a:solidFill>
                <a:latin typeface="Noto Sans KR"/>
                <a:ea typeface="Noto Sans KR"/>
                <a:cs typeface="Noto Sans KR"/>
              </a:rPr>
              <a:t>경광등 패키지는 차량 가액의 약 7%다.</a:t>
            </a:r>
          </a:p>
          <a:p>
            <a:pPr>
              <a:spcAft>
                <a:spcPts val="600"/>
              </a:spcAft>
            </a:pPr>
            <a:r>
              <a:rPr sz="1000" b="0" i="0" lang="ko-KR">
                <a:solidFill>
                  <a:srgbClr val="595959"/>
                </a:solidFill>
                <a:latin typeface="Noto Sans KR"/>
                <a:ea typeface="Noto Sans KR"/>
                <a:cs typeface="Noto Sans KR"/>
              </a:rPr>
              <a:t>출처: 경찰청 종합쇼핑몰 납품요구 물품 내역(2024, ㈜나눔컴퍼니 137건)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직납 경로 4가지와 추천 조합</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실적이 없어도 열려 있는 경로부터 밟고, 쇼핑몰은 마지막에 정착한다</a:t>
            </a:r>
          </a:p>
        </p:txBody>
      </p:sp>
      <p:graphicFrame>
        <p:nvGraphicFramePr>
          <p:cNvPr id="4" name="Table 3"/>
          <p:cNvGraphicFramePr>
            <a:graphicFrameLocks noGrp="1"/>
          </p:cNvGraphicFramePr>
          <p:nvPr/>
        </p:nvGraphicFramePr>
        <p:xfrm>
          <a:off x="365760" y="1200000"/>
          <a:ext cx="11460480" cy="3100000"/>
        </p:xfrm>
        <a:graphic>
          <a:graphicData uri="http://schemas.openxmlformats.org/drawingml/2006/table">
            <a:tbl>
              <a:tblPr/>
              <a:tblGrid>
                <a:gridCol w="2900000"/>
                <a:gridCol w="3000000"/>
                <a:gridCol w="3300000"/>
                <a:gridCol w="2260480"/>
              </a:tblGrid>
              <a:tr h="620000">
                <a:tc>
                  <a:txBody>
                    <a:bodyPr wrap="square"/>
                    <a:lstStyle/>
                    <a:p>
                      <a:r>
                        <a:rPr sz="1300" b="1" i="0" lang="ko-KR">
                          <a:solidFill>
                            <a:srgbClr val="FFFFFF"/>
                          </a:solidFill>
                          <a:latin typeface="Noto Sans KR"/>
                          <a:ea typeface="Noto Sans KR"/>
                          <a:cs typeface="Noto Sans KR"/>
                        </a:rPr>
                        <a:t>경로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300" b="1" i="0" lang="ko-KR">
                          <a:solidFill>
                            <a:srgbClr val="FFFFFF"/>
                          </a:solidFill>
                          <a:latin typeface="Noto Sans KR"/>
                          <a:ea typeface="Noto Sans KR"/>
                          <a:cs typeface="Noto Sans KR"/>
                        </a:rPr>
                        <a:t>방식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300" b="1" i="0" lang="ko-KR">
                          <a:solidFill>
                            <a:srgbClr val="FFFFFF"/>
                          </a:solidFill>
                          <a:latin typeface="Noto Sans KR"/>
                          <a:ea typeface="Noto Sans KR"/>
                          <a:cs typeface="Noto Sans KR"/>
                        </a:rPr>
                        <a:t>요건</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300" b="1" i="0" lang="ko-KR">
                          <a:solidFill>
                            <a:srgbClr val="FFFFFF"/>
                          </a:solidFill>
                          <a:latin typeface="Noto Sans KR"/>
                          <a:ea typeface="Noto Sans KR"/>
                          <a:cs typeface="Noto Sans KR"/>
                        </a:rPr>
                        <a:t>평가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620000">
                <a:tc>
                  <a:txBody>
                    <a:bodyPr wrap="square"/>
                    <a:lstStyle/>
                    <a:p>
                      <a:r>
                        <a:rPr sz="1300" b="1" i="0" lang="ko-KR">
                          <a:solidFill>
                            <a:srgbClr val="222222"/>
                          </a:solidFill>
                          <a:latin typeface="Noto Sans KR"/>
                          <a:ea typeface="Noto Sans KR"/>
                          <a:cs typeface="Noto Sans KR"/>
                        </a:rPr>
                        <a:t>A. 종합쇼핑몰 단품 등록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수요기관이 쇼핑몰에서 직접 선택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세부품명 거래실례 3건 이상, 직접생산, KC</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실적 선행 필요, 3단계 목표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20000">
                <a:tc>
                  <a:txBody>
                    <a:bodyPr wrap="square"/>
                    <a:lstStyle/>
                    <a:p>
                      <a:r>
                        <a:rPr sz="1300" b="1" i="0" lang="ko-KR">
                          <a:solidFill>
                            <a:srgbClr val="222222"/>
                          </a:solidFill>
                          <a:latin typeface="Noto Sans KR"/>
                          <a:ea typeface="Noto Sans KR"/>
                          <a:cs typeface="Noto Sans KR"/>
                        </a:rPr>
                        <a:t>B. 혁신제품 지정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최대 6년 수의계약, 조달청 시범구매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R&amp;D 성과 5년 이내 등, 상·하반기 신청</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최우선, 실적 없이 직납 가능</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20000">
                <a:tc>
                  <a:txBody>
                    <a:bodyPr wrap="square"/>
                    <a:lstStyle/>
                    <a:p>
                      <a:r>
                        <a:rPr sz="1300" b="1" i="0" lang="ko-KR">
                          <a:solidFill>
                            <a:srgbClr val="222222"/>
                          </a:solidFill>
                          <a:latin typeface="Noto Sans KR"/>
                          <a:ea typeface="Noto Sans KR"/>
                          <a:cs typeface="Noto Sans KR"/>
                        </a:rPr>
                        <a:t>C. 우수제품 지정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수의계약</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특허·신기술 + 품질 인증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2단계에서 병행</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20000">
                <a:tc>
                  <a:txBody>
                    <a:bodyPr wrap="square"/>
                    <a:lstStyle/>
                    <a:p>
                      <a:r>
                        <a:rPr sz="1300" b="1" i="0" lang="ko-KR">
                          <a:solidFill>
                            <a:srgbClr val="222222"/>
                          </a:solidFill>
                          <a:latin typeface="Noto Sans KR"/>
                          <a:ea typeface="Noto Sans KR"/>
                          <a:cs typeface="Noto Sans KR"/>
                        </a:rPr>
                        <a:t>D. 경찰청 교통단속장비 구매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교통국·시도청 물품구매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경찰 규격 적합, 단속 정보의 TCS 연계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현 공급사 1개, 2번째 공급사 수요</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
        <p:nvSpPr>
          <p:cNvPr id="5" name="Rounded Rectangle 4"/>
          <p:cNvSpPr/>
          <p:nvPr/>
        </p:nvSpPr>
        <p:spPr>
          <a:xfrm>
            <a:off x="365760" y="4550000"/>
            <a:ext cx="11460480" cy="14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5760" y="4630000"/>
            <a:ext cx="10960480" cy="1250000"/>
          </a:xfrm>
          <a:prstGeom prst="rect">
            <a:avLst/>
          </a:prstGeom>
          <a:noFill/>
        </p:spPr>
        <p:txBody>
          <a:bodyPr wrap="square" lIns="0" rIns="0" tIns="0" bIns="0" anchor="t">
            <a:noAutofit/>
          </a:bodyPr>
          <a:lstStyle/>
          <a:p>
            <a:pPr>
              <a:spcAft>
                <a:spcPts val="400"/>
              </a:spcAft>
            </a:pPr>
            <a:r>
              <a:rPr sz="1600" b="1" i="0" lang="ko-KR">
                <a:solidFill>
                  <a:srgbClr val="1F3A93"/>
                </a:solidFill>
                <a:latin typeface="Noto Sans KR"/>
                <a:ea typeface="Noto Sans KR"/>
                <a:cs typeface="Noto Sans KR"/>
              </a:rPr>
              <a:t>추천 순서</a:t>
            </a:r>
          </a:p>
          <a:p>
            <a:pPr>
              <a:spcAft>
                <a:spcPts val="600"/>
              </a:spcAft>
            </a:pPr>
            <a:r>
              <a:rPr sz="1400" b="0" i="0" lang="ko-KR">
                <a:solidFill>
                  <a:srgbClr val="222222"/>
                </a:solidFill>
                <a:latin typeface="Noto Sans KR"/>
                <a:ea typeface="Noto Sans KR"/>
                <a:cs typeface="Noto Sans KR"/>
              </a:rPr>
              <a:t>D(2027 실적·실증)  →  B(2028 혁신제품)  →  A(2029 종합쇼핑몰)</a:t>
            </a:r>
          </a:p>
          <a:p>
            <a:pPr>
              <a:spcAft>
                <a:spcPts val="600"/>
              </a:spcAft>
            </a:pPr>
            <a:r>
              <a:rPr sz="1400" b="0" i="0" lang="ko-KR">
                <a:solidFill>
                  <a:srgbClr val="222222"/>
                </a:solidFill>
                <a:latin typeface="Noto Sans KR"/>
                <a:ea typeface="Noto Sans KR"/>
                <a:cs typeface="Noto Sans KR"/>
              </a:rPr>
              <a:t>병행: 특장업체·완성차에 레이더 모듈을 공급해 현금흐름과 거래실례를 확보한다.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제품 개념: 레이더 일체형 스마트 경광등 3개 라인업</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주력은 T2이며 T1은 시장 진입용, T3는 단속 확장용이다</a:t>
            </a:r>
          </a:p>
        </p:txBody>
      </p:sp>
      <p:sp>
        <p:nvSpPr>
          <p:cNvPr id="4" name="Rounded Rectangle 3"/>
          <p:cNvSpPr/>
          <p:nvPr/>
        </p:nvSpPr>
        <p:spPr>
          <a:xfrm>
            <a:off x="365760" y="1250000"/>
            <a:ext cx="3686826" cy="49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15760" y="1400000"/>
            <a:ext cx="3386826" cy="600000"/>
          </a:xfrm>
          <a:prstGeom prst="round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600" b="1" i="0" lang="ko-KR">
                <a:solidFill>
                  <a:srgbClr val="FFFFFF"/>
                </a:solidFill>
                <a:latin typeface="Noto Sans KR"/>
                <a:ea typeface="Noto Sans KR"/>
                <a:cs typeface="Noto Sans KR"/>
              </a:rPr>
              <a:t>T1 기본형</a:t>
            </a:r>
          </a:p>
        </p:txBody>
      </p:sp>
      <p:sp>
        <p:nvSpPr>
          <p:cNvPr id="6" name="TextBox 5"/>
          <p:cNvSpPr txBox="1"/>
          <p:nvPr/>
        </p:nvSpPr>
        <p:spPr>
          <a:xfrm>
            <a:off x="585760" y="2200000"/>
            <a:ext cx="3246826" cy="3300000"/>
          </a:xfrm>
          <a:prstGeom prst="rect">
            <a:avLst/>
          </a:prstGeom>
          <a:noFill/>
        </p:spPr>
        <p:txBody>
          <a:bodyPr wrap="square" lIns="0" rIns="0" tIns="0" bIns="0" anchor="t">
            <a:noAutofit/>
          </a:bodyPr>
          <a:lstStyle/>
          <a:p>
            <a:pPr marL="200000" indent="-200000">
              <a:spcAft>
                <a:spcPts val="1200"/>
              </a:spcAft>
              <a:buFont typeface="Arial"/>
              <a:buChar char="•"/>
            </a:pPr>
            <a:r>
              <a:rPr sz="1500" b="0" i="0" lang="ko-KR">
                <a:solidFill>
                  <a:srgbClr val="222222"/>
                </a:solidFill>
                <a:latin typeface="Noto Sans KR"/>
                <a:ea typeface="Noto Sans KR"/>
                <a:cs typeface="Noto Sans KR"/>
              </a:rPr>
              <a:t>LED 리프트·장방형 경광등과 사이렌앰프 통합 제어(ODM 기반)</a:t>
            </a:r>
          </a:p>
          <a:p>
            <a:pPr marL="200000" indent="-200000">
              <a:spcAft>
                <a:spcPts val="1200"/>
              </a:spcAft>
              <a:buFont typeface="Arial"/>
              <a:buChar char="•"/>
            </a:pPr>
            <a:r>
              <a:rPr sz="1500" b="0" i="0" lang="ko-KR">
                <a:solidFill>
                  <a:srgbClr val="222222"/>
                </a:solidFill>
                <a:latin typeface="Noto Sans KR"/>
                <a:ea typeface="Noto Sans KR"/>
                <a:cs typeface="Noto Sans KR"/>
              </a:rPr>
              <a:t>경찰 규격 준수</a:t>
            </a:r>
          </a:p>
          <a:p>
            <a:pPr marL="200000" indent="-200000">
              <a:spcAft>
                <a:spcPts val="1200"/>
              </a:spcAft>
              <a:buFont typeface="Arial"/>
              <a:buChar char="•"/>
            </a:pPr>
            <a:r>
              <a:rPr sz="1500" b="0" i="0" lang="ko-KR">
                <a:solidFill>
                  <a:srgbClr val="222222"/>
                </a:solidFill>
                <a:latin typeface="Noto Sans KR"/>
                <a:ea typeface="Noto Sans KR"/>
                <a:cs typeface="Noto Sans KR"/>
              </a:rPr>
              <a:t>용도: 일반 교체 수요, 종합쇼핑몰 단품 진입</a:t>
            </a:r>
          </a:p>
        </p:txBody>
      </p:sp>
      <p:sp>
        <p:nvSpPr>
          <p:cNvPr id="7" name="TextBox 6"/>
          <p:cNvSpPr txBox="1"/>
          <p:nvPr/>
        </p:nvSpPr>
        <p:spPr>
          <a:xfrm>
            <a:off x="585760" y="5600000"/>
            <a:ext cx="3246826" cy="450000"/>
          </a:xfrm>
          <a:prstGeom prst="rect">
            <a:avLst/>
          </a:prstGeom>
          <a:noFill/>
        </p:spPr>
        <p:txBody>
          <a:bodyPr wrap="square" lIns="0" rIns="0" tIns="0" bIns="0" anchor="t">
            <a:noAutofit/>
          </a:bodyPr>
          <a:lstStyle/>
          <a:p>
            <a:pPr>
              <a:spcAft>
                <a:spcPts val="400"/>
              </a:spcAft>
            </a:pPr>
            <a:r>
              <a:rPr sz="1400" b="1" i="0" lang="ko-KR">
                <a:solidFill>
                  <a:srgbClr val="1F3A93"/>
                </a:solidFill>
                <a:latin typeface="Noto Sans KR"/>
                <a:ea typeface="Noto Sans KR"/>
                <a:cs typeface="Noto Sans KR"/>
              </a:rPr>
              <a:t>진입 시점: 3단계</a:t>
            </a:r>
          </a:p>
        </p:txBody>
      </p:sp>
      <p:sp>
        <p:nvSpPr>
          <p:cNvPr id="8" name="Rounded Rectangle 7"/>
          <p:cNvSpPr/>
          <p:nvPr/>
        </p:nvSpPr>
        <p:spPr>
          <a:xfrm>
            <a:off x="4252586" y="1250000"/>
            <a:ext cx="3686826" cy="49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02586" y="1400000"/>
            <a:ext cx="3386826" cy="600000"/>
          </a:xfrm>
          <a:prstGeom prst="round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600" b="1" i="0" lang="ko-KR">
                <a:solidFill>
                  <a:srgbClr val="FFFFFF"/>
                </a:solidFill>
                <a:latin typeface="Noto Sans KR"/>
                <a:ea typeface="Noto Sans KR"/>
                <a:cs typeface="Noto Sans KR"/>
              </a:rPr>
              <a:t>T2 레이더형 (주력)</a:t>
            </a:r>
          </a:p>
        </p:txBody>
      </p:sp>
      <p:sp>
        <p:nvSpPr>
          <p:cNvPr id="10" name="TextBox 9"/>
          <p:cNvSpPr txBox="1"/>
          <p:nvPr/>
        </p:nvSpPr>
        <p:spPr>
          <a:xfrm>
            <a:off x="4472586" y="2200000"/>
            <a:ext cx="3246826" cy="3300000"/>
          </a:xfrm>
          <a:prstGeom prst="rect">
            <a:avLst/>
          </a:prstGeom>
          <a:noFill/>
        </p:spPr>
        <p:txBody>
          <a:bodyPr wrap="square" lIns="0" rIns="0" tIns="0" bIns="0" anchor="t">
            <a:noAutofit/>
          </a:bodyPr>
          <a:lstStyle/>
          <a:p>
            <a:pPr marL="200000" indent="-200000">
              <a:spcAft>
                <a:spcPts val="1200"/>
              </a:spcAft>
              <a:buFont typeface="Arial"/>
              <a:buChar char="•"/>
            </a:pPr>
            <a:r>
              <a:rPr sz="1500" b="0" i="0" lang="ko-KR">
                <a:solidFill>
                  <a:srgbClr val="222222"/>
                </a:solidFill>
                <a:latin typeface="Noto Sans KR"/>
                <a:ea typeface="Noto Sans KR"/>
                <a:cs typeface="Noto Sans KR"/>
              </a:rPr>
              <a:t>T1 + 전·후면 24GHz 레이더 + 제어기 + 운전석 표시기</a:t>
            </a:r>
          </a:p>
          <a:p>
            <a:pPr marL="200000" indent="-200000">
              <a:spcAft>
                <a:spcPts val="1200"/>
              </a:spcAft>
              <a:buFont typeface="Arial"/>
              <a:buChar char="•"/>
            </a:pPr>
            <a:r>
              <a:rPr sz="1500" b="0" i="0" lang="ko-KR">
                <a:solidFill>
                  <a:srgbClr val="222222"/>
                </a:solidFill>
                <a:latin typeface="Noto Sans KR"/>
                <a:ea typeface="Noto Sans KR"/>
                <a:cs typeface="Noto Sans KR"/>
              </a:rPr>
              <a:t>영상 저장·식별 없음</a:t>
            </a:r>
          </a:p>
          <a:p>
            <a:pPr marL="200000" indent="-200000">
              <a:spcAft>
                <a:spcPts val="1200"/>
              </a:spcAft>
              <a:buFont typeface="Arial"/>
              <a:buChar char="•"/>
            </a:pPr>
            <a:r>
              <a:rPr sz="1500" b="0" i="0" lang="ko-KR">
                <a:solidFill>
                  <a:srgbClr val="222222"/>
                </a:solidFill>
                <a:latin typeface="Noto Sans KR"/>
                <a:ea typeface="Noto Sans KR"/>
                <a:cs typeface="Noto Sans KR"/>
              </a:rPr>
              <a:t>용도: 순찰차·고속순찰대 2차사고 예방, 과속 알림</a:t>
            </a:r>
          </a:p>
        </p:txBody>
      </p:sp>
      <p:sp>
        <p:nvSpPr>
          <p:cNvPr id="11" name="TextBox 10"/>
          <p:cNvSpPr txBox="1"/>
          <p:nvPr/>
        </p:nvSpPr>
        <p:spPr>
          <a:xfrm>
            <a:off x="4472586" y="5600000"/>
            <a:ext cx="3246826" cy="450000"/>
          </a:xfrm>
          <a:prstGeom prst="rect">
            <a:avLst/>
          </a:prstGeom>
          <a:noFill/>
        </p:spPr>
        <p:txBody>
          <a:bodyPr wrap="square" lIns="0" rIns="0" tIns="0" bIns="0" anchor="t">
            <a:noAutofit/>
          </a:bodyPr>
          <a:lstStyle/>
          <a:p>
            <a:pPr>
              <a:spcAft>
                <a:spcPts val="400"/>
              </a:spcAft>
            </a:pPr>
            <a:r>
              <a:rPr sz="1400" b="1" i="0" lang="ko-KR">
                <a:solidFill>
                  <a:srgbClr val="1F3A93"/>
                </a:solidFill>
                <a:latin typeface="Noto Sans KR"/>
                <a:ea typeface="Noto Sans KR"/>
                <a:cs typeface="Noto Sans KR"/>
              </a:rPr>
              <a:t>진입 시점: 1~2단계</a:t>
            </a:r>
          </a:p>
        </p:txBody>
      </p:sp>
      <p:sp>
        <p:nvSpPr>
          <p:cNvPr id="12" name="Rounded Rectangle 11"/>
          <p:cNvSpPr/>
          <p:nvPr/>
        </p:nvSpPr>
        <p:spPr>
          <a:xfrm>
            <a:off x="8139412" y="1250000"/>
            <a:ext cx="3686826" cy="49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89412" y="1400000"/>
            <a:ext cx="3386826" cy="600000"/>
          </a:xfrm>
          <a:prstGeom prst="round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600" b="1" i="0" lang="ko-KR">
                <a:solidFill>
                  <a:srgbClr val="FFFFFF"/>
                </a:solidFill>
                <a:latin typeface="Noto Sans KR"/>
                <a:ea typeface="Noto Sans KR"/>
                <a:cs typeface="Noto Sans KR"/>
              </a:rPr>
              <a:t>T3 단속형</a:t>
            </a:r>
          </a:p>
        </p:txBody>
      </p:sp>
      <p:sp>
        <p:nvSpPr>
          <p:cNvPr id="14" name="TextBox 13"/>
          <p:cNvSpPr txBox="1"/>
          <p:nvPr/>
        </p:nvSpPr>
        <p:spPr>
          <a:xfrm>
            <a:off x="8359412" y="2200000"/>
            <a:ext cx="3246826" cy="3300000"/>
          </a:xfrm>
          <a:prstGeom prst="rect">
            <a:avLst/>
          </a:prstGeom>
          <a:noFill/>
        </p:spPr>
        <p:txBody>
          <a:bodyPr wrap="square" lIns="0" rIns="0" tIns="0" bIns="0" anchor="t">
            <a:noAutofit/>
          </a:bodyPr>
          <a:lstStyle/>
          <a:p>
            <a:pPr marL="200000" indent="-200000">
              <a:spcAft>
                <a:spcPts val="1200"/>
              </a:spcAft>
              <a:buFont typeface="Arial"/>
              <a:buChar char="•"/>
            </a:pPr>
            <a:r>
              <a:rPr sz="1500" b="0" i="0" lang="ko-KR">
                <a:solidFill>
                  <a:srgbClr val="222222"/>
                </a:solidFill>
                <a:latin typeface="Noto Sans KR"/>
                <a:ea typeface="Noto Sans KR"/>
                <a:cs typeface="Noto Sans KR"/>
              </a:rPr>
              <a:t>T2 + 카메라(번호판 인식, 파트너) + LTE + 경찰청 TCS 연계</a:t>
            </a:r>
          </a:p>
          <a:p>
            <a:pPr marL="200000" indent="-200000">
              <a:spcAft>
                <a:spcPts val="1200"/>
              </a:spcAft>
              <a:buFont typeface="Arial"/>
              <a:buChar char="•"/>
            </a:pPr>
            <a:r>
              <a:rPr sz="1500" b="0" i="0" lang="ko-KR">
                <a:solidFill>
                  <a:srgbClr val="222222"/>
                </a:solidFill>
                <a:latin typeface="Noto Sans KR"/>
                <a:ea typeface="Noto Sans KR"/>
                <a:cs typeface="Noto Sans KR"/>
              </a:rPr>
              <a:t>차량탑재형 교통단속장비 규격</a:t>
            </a:r>
          </a:p>
          <a:p>
            <a:pPr marL="200000" indent="-200000">
              <a:spcAft>
                <a:spcPts val="1200"/>
              </a:spcAft>
              <a:buFont typeface="Arial"/>
              <a:buChar char="•"/>
            </a:pPr>
            <a:r>
              <a:rPr sz="1500" b="0" i="0" lang="ko-KR">
                <a:solidFill>
                  <a:srgbClr val="222222"/>
                </a:solidFill>
                <a:latin typeface="Noto Sans KR"/>
                <a:ea typeface="Noto Sans KR"/>
                <a:cs typeface="Noto Sans KR"/>
              </a:rPr>
              <a:t>용도: 암행순찰차·고속순찰대 단속</a:t>
            </a:r>
          </a:p>
        </p:txBody>
      </p:sp>
      <p:sp>
        <p:nvSpPr>
          <p:cNvPr id="15" name="TextBox 14"/>
          <p:cNvSpPr txBox="1"/>
          <p:nvPr/>
        </p:nvSpPr>
        <p:spPr>
          <a:xfrm>
            <a:off x="8359412" y="5600000"/>
            <a:ext cx="3246826" cy="450000"/>
          </a:xfrm>
          <a:prstGeom prst="rect">
            <a:avLst/>
          </a:prstGeom>
          <a:noFill/>
        </p:spPr>
        <p:txBody>
          <a:bodyPr wrap="square" lIns="0" rIns="0" tIns="0" bIns="0" anchor="t">
            <a:noAutofit/>
          </a:bodyPr>
          <a:lstStyle/>
          <a:p>
            <a:pPr>
              <a:spcAft>
                <a:spcPts val="400"/>
              </a:spcAft>
            </a:pPr>
            <a:r>
              <a:rPr sz="1400" b="1" i="0" lang="ko-KR">
                <a:solidFill>
                  <a:srgbClr val="1F3A93"/>
                </a:solidFill>
                <a:latin typeface="Noto Sans KR"/>
                <a:ea typeface="Noto Sans KR"/>
                <a:cs typeface="Noto Sans KR"/>
              </a:rPr>
              <a:t>진입 시점: 2~3단계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핵심 기능과 목표 규격(T2)</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후방 접근 경고와 주행 중 속도 검지를 경광등 하나로 처리한다</a:t>
            </a:r>
          </a:p>
        </p:txBody>
      </p:sp>
      <p:sp>
        <p:nvSpPr>
          <p:cNvPr id="4" name="TextBox 3"/>
          <p:cNvSpPr txBox="1"/>
          <p:nvPr/>
        </p:nvSpPr>
        <p:spPr>
          <a:xfrm>
            <a:off x="365760" y="1200000"/>
            <a:ext cx="5600000" cy="5000000"/>
          </a:xfrm>
          <a:prstGeom prst="rect">
            <a:avLst/>
          </a:prstGeom>
          <a:noFill/>
        </p:spPr>
        <p:txBody>
          <a:bodyPr wrap="square" lIns="0" rIns="0" tIns="0" bIns="0" anchor="t">
            <a:noAutofit/>
          </a:bodyPr>
          <a:lstStyle/>
          <a:p>
            <a:pPr marL="200000" indent="-200000">
              <a:spcAft>
                <a:spcPts val="1400"/>
              </a:spcAft>
              <a:buFont typeface="Arial"/>
              <a:buChar char="•"/>
            </a:pPr>
            <a:r>
              <a:rPr sz="1400" b="1" i="0" lang="ko-KR">
                <a:solidFill>
                  <a:srgbClr val="222222"/>
                </a:solidFill>
                <a:latin typeface="Noto Sans KR"/>
                <a:ea typeface="Noto Sans KR"/>
                <a:cs typeface="Noto Sans KR"/>
              </a:rPr>
              <a:t>후방 접근 경보</a:t>
            </a:r>
            <a:r>
              <a:rPr sz="1400" b="0" i="0" lang="ko-KR">
                <a:solidFill>
                  <a:srgbClr val="222222"/>
                </a:solidFill>
                <a:latin typeface="Noto Sans KR"/>
                <a:ea typeface="Noto Sans KR"/>
                <a:cs typeface="Noto Sans KR"/>
              </a:rPr>
              <a:t>: 80m 이내 접근 차량의 속도·거리로 위험을 판단해 경광·사이렌·전광판을 자동 전환</a:t>
            </a:r>
          </a:p>
          <a:p>
            <a:pPr marL="200000" indent="-200000">
              <a:spcAft>
                <a:spcPts val="1400"/>
              </a:spcAft>
              <a:buFont typeface="Arial"/>
              <a:buChar char="•"/>
            </a:pPr>
            <a:r>
              <a:rPr sz="1400" b="1" i="0" lang="ko-KR">
                <a:solidFill>
                  <a:srgbClr val="222222"/>
                </a:solidFill>
                <a:latin typeface="Noto Sans KR"/>
                <a:ea typeface="Noto Sans KR"/>
                <a:cs typeface="Noto Sans KR"/>
              </a:rPr>
              <a:t>주행 중 속도 검지</a:t>
            </a:r>
            <a:r>
              <a:rPr sz="1400" b="0" i="0" lang="ko-KR">
                <a:solidFill>
                  <a:srgbClr val="222222"/>
                </a:solidFill>
                <a:latin typeface="Noto Sans KR"/>
                <a:ea typeface="Noto Sans KR"/>
                <a:cs typeface="Noto Sans KR"/>
              </a:rPr>
              <a:t>: 자차 속도로 보정해 전방 차량 절대속도를 산출, 임계 초과 시 알림</a:t>
            </a:r>
          </a:p>
          <a:p>
            <a:pPr marL="200000" indent="-200000">
              <a:spcAft>
                <a:spcPts val="1400"/>
              </a:spcAft>
              <a:buFont typeface="Arial"/>
              <a:buChar char="•"/>
            </a:pPr>
            <a:r>
              <a:rPr sz="1400" b="1" i="0" lang="ko-KR">
                <a:solidFill>
                  <a:srgbClr val="222222"/>
                </a:solidFill>
                <a:latin typeface="Noto Sans KR"/>
                <a:ea typeface="Noto Sans KR"/>
                <a:cs typeface="Noto Sans KR"/>
              </a:rPr>
              <a:t>전광판 자동 연동</a:t>
            </a:r>
            <a:r>
              <a:rPr sz="1400" b="0" i="0" lang="ko-KR">
                <a:solidFill>
                  <a:srgbClr val="222222"/>
                </a:solidFill>
                <a:latin typeface="Noto Sans KR"/>
                <a:ea typeface="Noto Sans KR"/>
                <a:cs typeface="Noto Sans KR"/>
              </a:rPr>
              <a:t>: 정차·리프트 상승·후방 위험 상태에 따라 메시지 자동 전환</a:t>
            </a:r>
          </a:p>
          <a:p>
            <a:pPr marL="200000" indent="-200000">
              <a:spcAft>
                <a:spcPts val="1400"/>
              </a:spcAft>
              <a:buFont typeface="Arial"/>
              <a:buChar char="•"/>
            </a:pPr>
            <a:r>
              <a:rPr sz="1400" b="1" i="0" lang="ko-KR">
                <a:solidFill>
                  <a:srgbClr val="222222"/>
                </a:solidFill>
                <a:latin typeface="Noto Sans KR"/>
                <a:ea typeface="Noto Sans KR"/>
                <a:cs typeface="Noto Sans KR"/>
              </a:rPr>
              <a:t>자가진단·원격관리</a:t>
            </a:r>
            <a:r>
              <a:rPr sz="1400" b="0" i="0" lang="ko-KR">
                <a:solidFill>
                  <a:srgbClr val="222222"/>
                </a:solidFill>
                <a:latin typeface="Noto Sans KR"/>
                <a:ea typeface="Noto Sans KR"/>
                <a:cs typeface="Noto Sans KR"/>
              </a:rPr>
              <a:t>: 레이더·LED·앰프 상태를 점검해 관제 서버에 보고</a:t>
            </a:r>
          </a:p>
          <a:p>
            <a:pPr marL="200000" indent="-200000">
              <a:spcAft>
                <a:spcPts val="1400"/>
              </a:spcAft>
              <a:buFont typeface="Arial"/>
              <a:buChar char="•"/>
            </a:pPr>
            <a:r>
              <a:rPr sz="1400" b="1" i="0" lang="ko-KR">
                <a:solidFill>
                  <a:srgbClr val="222222"/>
                </a:solidFill>
                <a:latin typeface="Noto Sans KR"/>
                <a:ea typeface="Noto Sans KR"/>
                <a:cs typeface="Noto Sans KR"/>
              </a:rPr>
              <a:t>전기차 대응</a:t>
            </a:r>
            <a:r>
              <a:rPr sz="1400" b="0" i="0" lang="ko-KR">
                <a:solidFill>
                  <a:srgbClr val="222222"/>
                </a:solidFill>
                <a:latin typeface="Noto Sans KR"/>
                <a:ea typeface="Noto Sans KR"/>
                <a:cs typeface="Noto Sans KR"/>
              </a:rPr>
              <a:t>: 저전력(60W 이하)·경량(25kg 이하), 레이더 고장 시에도 경광은 독립 동작</a:t>
            </a:r>
          </a:p>
        </p:txBody>
      </p:sp>
      <p:graphicFrame>
        <p:nvGraphicFramePr>
          <p:cNvPr id="5" name="Table 4"/>
          <p:cNvGraphicFramePr>
            <a:graphicFrameLocks noGrp="1"/>
          </p:cNvGraphicFramePr>
          <p:nvPr/>
        </p:nvGraphicFramePr>
        <p:xfrm>
          <a:off x="6300000" y="1200000"/>
          <a:ext cx="5526240" cy="4480000"/>
        </p:xfrm>
        <a:graphic>
          <a:graphicData uri="http://schemas.openxmlformats.org/drawingml/2006/table">
            <a:tbl>
              <a:tblPr/>
              <a:tblGrid>
                <a:gridCol w="1500000"/>
                <a:gridCol w="4026240"/>
              </a:tblGrid>
              <a:tr h="640000">
                <a:tc>
                  <a:txBody>
                    <a:bodyPr wrap="square"/>
                    <a:lstStyle/>
                    <a:p>
                      <a:r>
                        <a:rPr sz="1300" b="1" i="0" lang="ko-KR">
                          <a:solidFill>
                            <a:srgbClr val="FFFFFF"/>
                          </a:solidFill>
                          <a:latin typeface="Noto Sans KR"/>
                          <a:ea typeface="Noto Sans KR"/>
                          <a:cs typeface="Noto Sans KR"/>
                        </a:rPr>
                        <a:t>항목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300" b="1" i="0" lang="ko-KR">
                          <a:solidFill>
                            <a:srgbClr val="FFFFFF"/>
                          </a:solidFill>
                          <a:latin typeface="Noto Sans KR"/>
                          <a:ea typeface="Noto Sans KR"/>
                          <a:cs typeface="Noto Sans KR"/>
                        </a:rPr>
                        <a:t>목표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640000">
                <a:tc>
                  <a:txBody>
                    <a:bodyPr wrap="square"/>
                    <a:lstStyle/>
                    <a:p>
                      <a:r>
                        <a:rPr sz="1300" b="1" i="0" lang="ko-KR">
                          <a:solidFill>
                            <a:srgbClr val="222222"/>
                          </a:solidFill>
                          <a:latin typeface="Noto Sans KR"/>
                          <a:ea typeface="Noto Sans KR"/>
                          <a:cs typeface="Noto Sans KR"/>
                        </a:rPr>
                        <a:t>레이더</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24.05~24.25GHz FMCW, 전·후면 각 1기</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300" b="1" i="0" lang="ko-KR">
                          <a:solidFill>
                            <a:srgbClr val="222222"/>
                          </a:solidFill>
                          <a:latin typeface="Noto Sans KR"/>
                          <a:ea typeface="Noto Sans KR"/>
                          <a:cs typeface="Noto Sans KR"/>
                        </a:rPr>
                        <a:t>속도 측정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0~250km/h, 정지 ±1km/h, 주행 ±3%</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300" b="1" i="0" lang="ko-KR">
                          <a:solidFill>
                            <a:srgbClr val="222222"/>
                          </a:solidFill>
                          <a:latin typeface="Noto Sans KR"/>
                          <a:ea typeface="Noto Sans KR"/>
                          <a:cs typeface="Noto Sans KR"/>
                        </a:rPr>
                        <a:t>검지 범위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전방 5~100m, 후방 5~80m, 수평 ±33°</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300" b="1" i="0" lang="ko-KR">
                          <a:solidFill>
                            <a:srgbClr val="222222"/>
                          </a:solidFill>
                          <a:latin typeface="Noto Sans KR"/>
                          <a:ea typeface="Noto Sans KR"/>
                          <a:cs typeface="Noto Sans KR"/>
                        </a:rPr>
                        <a:t>전원·중량</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60W 이하, 25kg 이하(경광 포함)</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300" b="1" i="0" lang="ko-KR">
                          <a:solidFill>
                            <a:srgbClr val="222222"/>
                          </a:solidFill>
                          <a:latin typeface="Noto Sans KR"/>
                          <a:ea typeface="Noto Sans KR"/>
                          <a:cs typeface="Noto Sans KR"/>
                        </a:rPr>
                        <a:t>환경</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IP67, -30~+65℃</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300" b="1" i="0" lang="ko-KR">
                          <a:solidFill>
                            <a:srgbClr val="222222"/>
                          </a:solidFill>
                          <a:latin typeface="Noto Sans KR"/>
                          <a:ea typeface="Noto Sans KR"/>
                          <a:cs typeface="Noto Sans KR"/>
                        </a:rPr>
                        <a:t>인증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300" b="0" i="0" lang="ko-KR">
                          <a:solidFill>
                            <a:srgbClr val="222222"/>
                          </a:solidFill>
                          <a:latin typeface="Noto Sans KR"/>
                          <a:ea typeface="Noto Sans KR"/>
                          <a:cs typeface="Noto Sans KR"/>
                        </a:rPr>
                        <a:t>KC EMC, 전파, 등화 안전기준, 경찰 규격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개발 범위: 재사용·신규·외부로 나눠 확장을 최소화</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새로 만드는 것은 신호처리와 통합 설계에 한정한다</a:t>
            </a:r>
          </a:p>
        </p:txBody>
      </p:sp>
      <p:sp>
        <p:nvSpPr>
          <p:cNvPr id="4" name="Rounded Rectangle 3"/>
          <p:cNvSpPr/>
          <p:nvPr/>
        </p:nvSpPr>
        <p:spPr>
          <a:xfrm>
            <a:off x="365760" y="1250000"/>
            <a:ext cx="3686826" cy="39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15760" y="1400000"/>
            <a:ext cx="3386826" cy="550000"/>
          </a:xfrm>
          <a:prstGeom prst="round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500" b="1" i="0" lang="ko-KR">
                <a:solidFill>
                  <a:srgbClr val="FFFFFF"/>
                </a:solidFill>
                <a:latin typeface="Noto Sans KR"/>
                <a:ea typeface="Noto Sans KR"/>
                <a:cs typeface="Noto Sans KR"/>
              </a:rPr>
              <a:t>재사용</a:t>
            </a:r>
          </a:p>
        </p:txBody>
      </p:sp>
      <p:sp>
        <p:nvSpPr>
          <p:cNvPr id="6" name="TextBox 5"/>
          <p:cNvSpPr txBox="1"/>
          <p:nvPr/>
        </p:nvSpPr>
        <p:spPr>
          <a:xfrm>
            <a:off x="585760" y="2150000"/>
            <a:ext cx="3246826" cy="2900000"/>
          </a:xfrm>
          <a:prstGeom prst="rect">
            <a:avLst/>
          </a:prstGeom>
          <a:noFill/>
        </p:spPr>
        <p:txBody>
          <a:bodyPr wrap="square" lIns="0" rIns="0" tIns="0" bIns="0" anchor="t">
            <a:noAutofit/>
          </a:bodyPr>
          <a:lstStyle/>
          <a:p>
            <a:pPr marL="200000" indent="-200000">
              <a:spcAft>
                <a:spcPts val="1200"/>
              </a:spcAft>
              <a:buFont typeface="Arial"/>
              <a:buChar char="•"/>
            </a:pPr>
            <a:r>
              <a:rPr sz="1500" b="0" i="0" lang="ko-KR">
                <a:solidFill>
                  <a:srgbClr val="222222"/>
                </a:solidFill>
                <a:latin typeface="Noto Sans KR"/>
                <a:ea typeface="Noto Sans KR"/>
                <a:cs typeface="Noto Sans KR"/>
              </a:rPr>
              <a:t>레이더 하드웨어·펌웨어(MCRT-100N/R, 빔폭만 조정)</a:t>
            </a:r>
          </a:p>
          <a:p>
            <a:pPr marL="200000" indent="-200000">
              <a:spcAft>
                <a:spcPts val="1200"/>
              </a:spcAft>
              <a:buFont typeface="Arial"/>
              <a:buChar char="•"/>
            </a:pPr>
            <a:r>
              <a:rPr sz="1500" b="0" i="0" lang="ko-KR">
                <a:solidFill>
                  <a:srgbClr val="222222"/>
                </a:solidFill>
                <a:latin typeface="Noto Sans KR"/>
                <a:ea typeface="Noto Sans KR"/>
                <a:cs typeface="Noto Sans KR"/>
              </a:rPr>
              <a:t>차량감지제어기·VDU 플랫폼</a:t>
            </a:r>
          </a:p>
          <a:p>
            <a:pPr marL="200000" indent="-200000">
              <a:spcAft>
                <a:spcPts val="1200"/>
              </a:spcAft>
              <a:buFont typeface="Arial"/>
              <a:buChar char="•"/>
            </a:pPr>
            <a:r>
              <a:rPr sz="1500" b="0" i="0" lang="ko-KR">
                <a:solidFill>
                  <a:srgbClr val="222222"/>
                </a:solidFill>
                <a:latin typeface="Noto Sans KR"/>
                <a:ea typeface="Noto Sans KR"/>
                <a:cs typeface="Noto Sans KR"/>
              </a:rPr>
              <a:t>자가진단·관제 S/W</a:t>
            </a:r>
          </a:p>
        </p:txBody>
      </p:sp>
      <p:sp>
        <p:nvSpPr>
          <p:cNvPr id="7" name="Rounded Rectangle 6"/>
          <p:cNvSpPr/>
          <p:nvPr/>
        </p:nvSpPr>
        <p:spPr>
          <a:xfrm>
            <a:off x="4252586" y="1250000"/>
            <a:ext cx="3686826" cy="39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02586" y="1400000"/>
            <a:ext cx="3386826" cy="550000"/>
          </a:xfrm>
          <a:prstGeom prst="roundRect">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500" b="1" i="0" lang="ko-KR">
                <a:solidFill>
                  <a:srgbClr val="FFFFFF"/>
                </a:solidFill>
                <a:latin typeface="Noto Sans KR"/>
                <a:ea typeface="Noto Sans KR"/>
                <a:cs typeface="Noto Sans KR"/>
              </a:rPr>
              <a:t>신규 개발 (핵심)</a:t>
            </a:r>
          </a:p>
        </p:txBody>
      </p:sp>
      <p:sp>
        <p:nvSpPr>
          <p:cNvPr id="9" name="TextBox 8"/>
          <p:cNvSpPr txBox="1"/>
          <p:nvPr/>
        </p:nvSpPr>
        <p:spPr>
          <a:xfrm>
            <a:off x="4472586" y="2150000"/>
            <a:ext cx="3246826" cy="2900000"/>
          </a:xfrm>
          <a:prstGeom prst="rect">
            <a:avLst/>
          </a:prstGeom>
          <a:noFill/>
        </p:spPr>
        <p:txBody>
          <a:bodyPr wrap="square" lIns="0" rIns="0" tIns="0" bIns="0" anchor="t">
            <a:noAutofit/>
          </a:bodyPr>
          <a:lstStyle/>
          <a:p>
            <a:pPr marL="200000" indent="-200000">
              <a:spcAft>
                <a:spcPts val="1200"/>
              </a:spcAft>
              <a:buFont typeface="Arial"/>
              <a:buChar char="•"/>
            </a:pPr>
            <a:r>
              <a:rPr sz="1500" b="0" i="0" lang="ko-KR">
                <a:solidFill>
                  <a:srgbClr val="222222"/>
                </a:solidFill>
                <a:latin typeface="Noto Sans KR"/>
                <a:ea typeface="Noto Sans KR"/>
                <a:cs typeface="Noto Sans KR"/>
              </a:rPr>
              <a:t>이동 플랫폼 신호처리</a:t>
            </a:r>
          </a:p>
          <a:p>
            <a:pPr marL="200000" indent="-200000">
              <a:spcAft>
                <a:spcPts val="1200"/>
              </a:spcAft>
              <a:buFont typeface="Arial"/>
              <a:buChar char="•"/>
            </a:pPr>
            <a:r>
              <a:rPr sz="1500" b="0" i="0" lang="ko-KR">
                <a:solidFill>
                  <a:srgbClr val="222222"/>
                </a:solidFill>
                <a:latin typeface="Noto Sans KR"/>
                <a:ea typeface="Noto Sans KR"/>
                <a:cs typeface="Noto Sans KR"/>
              </a:rPr>
              <a:t>자차 속도 보정, 정지 클러터 제거</a:t>
            </a:r>
          </a:p>
          <a:p>
            <a:pPr marL="200000" indent="-200000">
              <a:spcAft>
                <a:spcPts val="1200"/>
              </a:spcAft>
              <a:buFont typeface="Arial"/>
              <a:buChar char="•"/>
            </a:pPr>
            <a:r>
              <a:rPr sz="1500" b="0" i="0" lang="ko-KR">
                <a:solidFill>
                  <a:srgbClr val="222222"/>
                </a:solidFill>
                <a:latin typeface="Noto Sans KR"/>
                <a:ea typeface="Noto Sans KR"/>
                <a:cs typeface="Noto Sans KR"/>
              </a:rPr>
              <a:t>다중 표적 추적, 후방 위험도 산출</a:t>
            </a:r>
          </a:p>
        </p:txBody>
      </p:sp>
      <p:sp>
        <p:nvSpPr>
          <p:cNvPr id="10" name="Rounded Rectangle 9"/>
          <p:cNvSpPr/>
          <p:nvPr/>
        </p:nvSpPr>
        <p:spPr>
          <a:xfrm>
            <a:off x="8139412" y="1250000"/>
            <a:ext cx="3686826" cy="39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89412" y="1400000"/>
            <a:ext cx="3386826" cy="550000"/>
          </a:xfrm>
          <a:prstGeom prst="round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ctr"/>
            <a:r>
              <a:rPr sz="1500" b="1" i="0" lang="ko-KR">
                <a:solidFill>
                  <a:srgbClr val="FFFFFF"/>
                </a:solidFill>
                <a:latin typeface="Noto Sans KR"/>
                <a:ea typeface="Noto Sans KR"/>
                <a:cs typeface="Noto Sans KR"/>
              </a:rPr>
              <a:t>외부 · 협력</a:t>
            </a:r>
          </a:p>
        </p:txBody>
      </p:sp>
      <p:sp>
        <p:nvSpPr>
          <p:cNvPr id="12" name="TextBox 11"/>
          <p:cNvSpPr txBox="1"/>
          <p:nvPr/>
        </p:nvSpPr>
        <p:spPr>
          <a:xfrm>
            <a:off x="8359412" y="2150000"/>
            <a:ext cx="3246826" cy="2900000"/>
          </a:xfrm>
          <a:prstGeom prst="rect">
            <a:avLst/>
          </a:prstGeom>
          <a:noFill/>
        </p:spPr>
        <p:txBody>
          <a:bodyPr wrap="square" lIns="0" rIns="0" tIns="0" bIns="0" anchor="t">
            <a:noAutofit/>
          </a:bodyPr>
          <a:lstStyle/>
          <a:p>
            <a:pPr marL="200000" indent="-200000">
              <a:spcAft>
                <a:spcPts val="1200"/>
              </a:spcAft>
              <a:buFont typeface="Arial"/>
              <a:buChar char="•"/>
            </a:pPr>
            <a:r>
              <a:rPr sz="1500" b="0" i="0" lang="ko-KR">
                <a:solidFill>
                  <a:srgbClr val="222222"/>
                </a:solidFill>
                <a:latin typeface="Noto Sans KR"/>
                <a:ea typeface="Noto Sans KR"/>
                <a:cs typeface="Noto Sans KR"/>
              </a:rPr>
              <a:t>경광등 광학·하우징·리프트: ODM 협력사</a:t>
            </a:r>
          </a:p>
          <a:p>
            <a:pPr marL="200000" indent="-200000">
              <a:spcAft>
                <a:spcPts val="1200"/>
              </a:spcAft>
              <a:buFont typeface="Arial"/>
              <a:buChar char="•"/>
            </a:pPr>
            <a:r>
              <a:rPr sz="1500" b="0" i="0" lang="ko-KR">
                <a:solidFill>
                  <a:srgbClr val="222222"/>
                </a:solidFill>
                <a:latin typeface="Noto Sans KR"/>
                <a:ea typeface="Noto Sans KR"/>
                <a:cs typeface="Noto Sans KR"/>
              </a:rPr>
              <a:t>사이렌앰프·스피커: 규격품 구매</a:t>
            </a:r>
          </a:p>
          <a:p>
            <a:pPr marL="200000" indent="-200000">
              <a:spcAft>
                <a:spcPts val="1200"/>
              </a:spcAft>
              <a:buFont typeface="Arial"/>
              <a:buChar char="•"/>
            </a:pPr>
            <a:r>
              <a:rPr sz="1500" b="0" i="0" lang="ko-KR">
                <a:solidFill>
                  <a:srgbClr val="222222"/>
                </a:solidFill>
                <a:latin typeface="Noto Sans KR"/>
                <a:ea typeface="Noto Sans KR"/>
                <a:cs typeface="Noto Sans KR"/>
              </a:rPr>
              <a:t>카메라·번호판 인식(T3): 파트너</a:t>
            </a:r>
          </a:p>
          <a:p>
            <a:pPr marL="200000" indent="-200000">
              <a:spcAft>
                <a:spcPts val="1200"/>
              </a:spcAft>
              <a:buFont typeface="Arial"/>
              <a:buChar char="•"/>
            </a:pPr>
            <a:r>
              <a:rPr sz="1500" b="0" i="0" lang="ko-KR">
                <a:solidFill>
                  <a:srgbClr val="222222"/>
                </a:solidFill>
                <a:latin typeface="Noto Sans KR"/>
                <a:ea typeface="Noto Sans KR"/>
                <a:cs typeface="Noto Sans KR"/>
              </a:rPr>
              <a:t>인증·시험: 외부 시험기관</a:t>
            </a:r>
          </a:p>
        </p:txBody>
      </p:sp>
      <p:sp>
        <p:nvSpPr>
          <p:cNvPr id="13" name="Rounded Rectangle 12"/>
          <p:cNvSpPr/>
          <p:nvPr/>
        </p:nvSpPr>
        <p:spPr>
          <a:xfrm>
            <a:off x="365760" y="5350000"/>
            <a:ext cx="11460480" cy="8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5760" y="5400000"/>
            <a:ext cx="10960480" cy="750000"/>
          </a:xfrm>
          <a:prstGeom prst="rect">
            <a:avLst/>
          </a:prstGeom>
          <a:noFill/>
        </p:spPr>
        <p:txBody>
          <a:bodyPr wrap="square" lIns="0" rIns="0" tIns="0" bIns="0" anchor="ctr">
            <a:noAutofit/>
          </a:bodyPr>
          <a:lstStyle/>
          <a:p>
            <a:pPr>
              <a:spcAft>
                <a:spcPts val="400"/>
              </a:spcAft>
            </a:pPr>
            <a:r>
              <a:rPr sz="1400" b="0" i="0" lang="ko-KR">
                <a:solidFill>
                  <a:srgbClr val="222222"/>
                </a:solidFill>
                <a:latin typeface="Noto Sans KR"/>
                <a:ea typeface="Noto Sans KR"/>
                <a:cs typeface="Noto Sans KR"/>
              </a:rPr>
              <a:t>인력: 기존 연구 인력 중심에 신규 2명(하드웨어·기구, 과제관리·인증)만 충원한다. 경광등 광학·양산은 협력사가 맡는다.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사업 로드맵: 4단계로 직납을 정착시킨다</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수요처 구매동의서와 현장 실증을 먼저 확보하고 혁신제품으로 넘어간다</a:t>
            </a:r>
          </a:p>
        </p:txBody>
      </p:sp>
      <p:sp>
        <p:nvSpPr>
          <p:cNvPr id="4" name="Pentagon 3"/>
          <p:cNvSpPr/>
          <p:nvPr/>
        </p:nvSpPr>
        <p:spPr>
          <a:xfrm>
            <a:off x="365760" y="1250000"/>
            <a:ext cx="2745120" cy="800000"/>
          </a:xfrm>
          <a:prstGeom prst="homePlat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l"/>
            <a:r>
              <a:rPr sz="1400" b="1" i="0" lang="ko-KR">
                <a:solidFill>
                  <a:srgbClr val="FFFFFF"/>
                </a:solidFill>
                <a:latin typeface="Noto Sans KR"/>
                <a:ea typeface="Noto Sans KR"/>
                <a:cs typeface="Noto Sans KR"/>
              </a:rPr>
              <a:t>0단계</a:t>
            </a:r>
          </a:p>
          <a:p>
            <a:pPr algn="l"/>
            <a:r>
              <a:rPr sz="1400" b="1" i="0" lang="ko-KR">
                <a:solidFill>
                  <a:srgbClr val="FFFFFF"/>
                </a:solidFill>
                <a:latin typeface="Noto Sans KR"/>
                <a:ea typeface="Noto Sans KR"/>
                <a:cs typeface="Noto Sans KR"/>
              </a:rPr>
              <a:t>2026.10~12 준비</a:t>
            </a:r>
          </a:p>
        </p:txBody>
      </p:sp>
      <p:sp>
        <p:nvSpPr>
          <p:cNvPr id="5" name="Rounded Rectangle 4"/>
          <p:cNvSpPr/>
          <p:nvPr/>
        </p:nvSpPr>
        <p:spPr>
          <a:xfrm>
            <a:off x="365760" y="2200000"/>
            <a:ext cx="2745120" cy="30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5760" y="2350000"/>
            <a:ext cx="2425120" cy="2800000"/>
          </a:xfrm>
          <a:prstGeom prst="rect">
            <a:avLst/>
          </a:prstGeom>
          <a:noFill/>
        </p:spPr>
        <p:txBody>
          <a:bodyPr wrap="square" lIns="0" rIns="0" tIns="0" bIns="0" anchor="t">
            <a:noAutofit/>
          </a:bodyPr>
          <a:lstStyle/>
          <a:p>
            <a:pPr marL="200000" indent="-200000">
              <a:spcAft>
                <a:spcPts val="1000"/>
              </a:spcAft>
              <a:buFont typeface="Arial"/>
              <a:buChar char="•"/>
            </a:pPr>
            <a:r>
              <a:rPr sz="1400" b="0" i="0" lang="ko-KR">
                <a:solidFill>
                  <a:srgbClr val="222222"/>
                </a:solidFill>
                <a:latin typeface="Noto Sans KR"/>
                <a:ea typeface="Noto Sans KR"/>
                <a:cs typeface="Noto Sans KR"/>
              </a:rPr>
              <a:t>경찰 현장 인터뷰 5건 이상</a:t>
            </a:r>
          </a:p>
          <a:p>
            <a:pPr marL="200000" indent="-200000">
              <a:spcAft>
                <a:spcPts val="1000"/>
              </a:spcAft>
              <a:buFont typeface="Arial"/>
              <a:buChar char="•"/>
            </a:pPr>
            <a:r>
              <a:rPr sz="1400" b="0" i="0" lang="ko-KR">
                <a:solidFill>
                  <a:srgbClr val="222222"/>
                </a:solidFill>
                <a:latin typeface="Noto Sans KR"/>
                <a:ea typeface="Noto Sans KR"/>
                <a:cs typeface="Noto Sans KR"/>
              </a:rPr>
              <a:t>수요처 구매동의서 협의</a:t>
            </a:r>
          </a:p>
          <a:p>
            <a:pPr marL="200000" indent="-200000">
              <a:spcAft>
                <a:spcPts val="1000"/>
              </a:spcAft>
              <a:buFont typeface="Arial"/>
              <a:buChar char="•"/>
            </a:pPr>
            <a:r>
              <a:rPr sz="1400" b="0" i="0" lang="ko-KR">
                <a:solidFill>
                  <a:srgbClr val="222222"/>
                </a:solidFill>
                <a:latin typeface="Noto Sans KR"/>
                <a:ea typeface="Noto Sans KR"/>
                <a:cs typeface="Noto Sans KR"/>
              </a:rPr>
              <a:t>특허 FTO, 선행 특허 출원 준비</a:t>
            </a:r>
          </a:p>
          <a:p>
            <a:pPr marL="200000" indent="-200000">
              <a:spcAft>
                <a:spcPts val="1000"/>
              </a:spcAft>
              <a:buFont typeface="Arial"/>
              <a:buChar char="•"/>
            </a:pPr>
            <a:r>
              <a:rPr sz="1400" b="0" i="0" lang="ko-KR">
                <a:solidFill>
                  <a:srgbClr val="222222"/>
                </a:solidFill>
                <a:latin typeface="Noto Sans KR"/>
                <a:ea typeface="Noto Sans KR"/>
                <a:cs typeface="Noto Sans KR"/>
              </a:rPr>
              <a:t>ODM·카메라 파트너 확약</a:t>
            </a:r>
          </a:p>
        </p:txBody>
      </p:sp>
      <p:sp>
        <p:nvSpPr>
          <p:cNvPr id="7" name="Pentagon 6"/>
          <p:cNvSpPr/>
          <p:nvPr/>
        </p:nvSpPr>
        <p:spPr>
          <a:xfrm>
            <a:off x="3270880" y="1250000"/>
            <a:ext cx="2745120" cy="800000"/>
          </a:xfrm>
          <a:prstGeom prst="homePlat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l"/>
            <a:r>
              <a:rPr sz="1400" b="1" i="0" lang="ko-KR">
                <a:solidFill>
                  <a:srgbClr val="FFFFFF"/>
                </a:solidFill>
                <a:latin typeface="Noto Sans KR"/>
                <a:ea typeface="Noto Sans KR"/>
                <a:cs typeface="Noto Sans KR"/>
              </a:rPr>
              <a:t>1단계</a:t>
            </a:r>
          </a:p>
          <a:p>
            <a:pPr algn="l"/>
            <a:r>
              <a:rPr sz="1400" b="1" i="0" lang="ko-KR">
                <a:solidFill>
                  <a:srgbClr val="FFFFFF"/>
                </a:solidFill>
                <a:latin typeface="Noto Sans KR"/>
                <a:ea typeface="Noto Sans KR"/>
                <a:cs typeface="Noto Sans KR"/>
              </a:rPr>
              <a:t>2027 개발·과제</a:t>
            </a:r>
          </a:p>
        </p:txBody>
      </p:sp>
      <p:sp>
        <p:nvSpPr>
          <p:cNvPr id="8" name="Rounded Rectangle 7"/>
          <p:cNvSpPr/>
          <p:nvPr/>
        </p:nvSpPr>
        <p:spPr>
          <a:xfrm>
            <a:off x="3270880" y="2200000"/>
            <a:ext cx="2745120" cy="30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30880" y="2350000"/>
            <a:ext cx="2425120" cy="2800000"/>
          </a:xfrm>
          <a:prstGeom prst="rect">
            <a:avLst/>
          </a:prstGeom>
          <a:noFill/>
        </p:spPr>
        <p:txBody>
          <a:bodyPr wrap="square" lIns="0" rIns="0" tIns="0" bIns="0" anchor="t">
            <a:noAutofit/>
          </a:bodyPr>
          <a:lstStyle/>
          <a:p>
            <a:pPr marL="200000" indent="-200000">
              <a:spcAft>
                <a:spcPts val="1000"/>
              </a:spcAft>
              <a:buFont typeface="Arial"/>
              <a:buChar char="•"/>
            </a:pPr>
            <a:r>
              <a:rPr sz="1400" b="0" i="0" lang="ko-KR">
                <a:solidFill>
                  <a:srgbClr val="222222"/>
                </a:solidFill>
                <a:latin typeface="Noto Sans KR"/>
                <a:ea typeface="Noto Sans KR"/>
                <a:cs typeface="Noto Sans KR"/>
              </a:rPr>
              <a:t>정부 R&amp;D 1~2건 선정</a:t>
            </a:r>
          </a:p>
          <a:p>
            <a:pPr marL="200000" indent="-200000">
              <a:spcAft>
                <a:spcPts val="1000"/>
              </a:spcAft>
              <a:buFont typeface="Arial"/>
              <a:buChar char="•"/>
            </a:pPr>
            <a:r>
              <a:rPr sz="1400" b="0" i="0" lang="ko-KR">
                <a:solidFill>
                  <a:srgbClr val="222222"/>
                </a:solidFill>
                <a:latin typeface="Noto Sans KR"/>
                <a:ea typeface="Noto Sans KR"/>
                <a:cs typeface="Noto Sans KR"/>
              </a:rPr>
              <a:t>시제품 10대(TRL 6)</a:t>
            </a:r>
          </a:p>
          <a:p>
            <a:pPr marL="200000" indent="-200000">
              <a:spcAft>
                <a:spcPts val="1000"/>
              </a:spcAft>
              <a:buFont typeface="Arial"/>
              <a:buChar char="•"/>
            </a:pPr>
            <a:r>
              <a:rPr sz="1400" b="0" i="0" lang="ko-KR">
                <a:solidFill>
                  <a:srgbClr val="222222"/>
                </a:solidFill>
                <a:latin typeface="Noto Sans KR"/>
                <a:ea typeface="Noto Sans KR"/>
                <a:cs typeface="Noto Sans KR"/>
              </a:rPr>
              <a:t>시도경찰청 5~10대 시범 장착</a:t>
            </a:r>
          </a:p>
          <a:p>
            <a:pPr marL="200000" indent="-200000">
              <a:spcAft>
                <a:spcPts val="1000"/>
              </a:spcAft>
              <a:buFont typeface="Arial"/>
              <a:buChar char="•"/>
            </a:pPr>
            <a:r>
              <a:rPr sz="1400" b="0" i="0" lang="ko-KR">
                <a:solidFill>
                  <a:srgbClr val="222222"/>
                </a:solidFill>
                <a:latin typeface="Noto Sans KR"/>
                <a:ea typeface="Noto Sans KR"/>
                <a:cs typeface="Noto Sans KR"/>
              </a:rPr>
              <a:t>KPEX 출품</a:t>
            </a:r>
          </a:p>
        </p:txBody>
      </p:sp>
      <p:sp>
        <p:nvSpPr>
          <p:cNvPr id="10" name="Pentagon 9"/>
          <p:cNvSpPr/>
          <p:nvPr/>
        </p:nvSpPr>
        <p:spPr>
          <a:xfrm>
            <a:off x="6176000" y="1250000"/>
            <a:ext cx="2745120" cy="800000"/>
          </a:xfrm>
          <a:prstGeom prst="homePlate">
            <a:avLst/>
          </a:prstGeom>
          <a:solidFill>
            <a:srgbClr val="1F3A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l"/>
            <a:r>
              <a:rPr sz="1400" b="1" i="0" lang="ko-KR">
                <a:solidFill>
                  <a:srgbClr val="FFFFFF"/>
                </a:solidFill>
                <a:latin typeface="Noto Sans KR"/>
                <a:ea typeface="Noto Sans KR"/>
                <a:cs typeface="Noto Sans KR"/>
              </a:rPr>
              <a:t>2단계</a:t>
            </a:r>
          </a:p>
          <a:p>
            <a:pPr algn="l"/>
            <a:r>
              <a:rPr sz="1400" b="1" i="0" lang="ko-KR">
                <a:solidFill>
                  <a:srgbClr val="FFFFFF"/>
                </a:solidFill>
                <a:latin typeface="Noto Sans KR"/>
                <a:ea typeface="Noto Sans KR"/>
                <a:cs typeface="Noto Sans KR"/>
              </a:rPr>
              <a:t>2028 실증·지정</a:t>
            </a:r>
          </a:p>
        </p:txBody>
      </p:sp>
      <p:sp>
        <p:nvSpPr>
          <p:cNvPr id="11" name="Rounded Rectangle 10"/>
          <p:cNvSpPr/>
          <p:nvPr/>
        </p:nvSpPr>
        <p:spPr>
          <a:xfrm>
            <a:off x="6176000" y="2200000"/>
            <a:ext cx="2745120" cy="30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000" y="2350000"/>
            <a:ext cx="2425120" cy="2800000"/>
          </a:xfrm>
          <a:prstGeom prst="rect">
            <a:avLst/>
          </a:prstGeom>
          <a:noFill/>
        </p:spPr>
        <p:txBody>
          <a:bodyPr wrap="square" lIns="0" rIns="0" tIns="0" bIns="0" anchor="t">
            <a:noAutofit/>
          </a:bodyPr>
          <a:lstStyle/>
          <a:p>
            <a:pPr marL="200000" indent="-200000">
              <a:spcAft>
                <a:spcPts val="1000"/>
              </a:spcAft>
              <a:buFont typeface="Arial"/>
              <a:buChar char="•"/>
            </a:pPr>
            <a:r>
              <a:rPr sz="1400" b="0" i="0" lang="ko-KR">
                <a:solidFill>
                  <a:srgbClr val="222222"/>
                </a:solidFill>
                <a:latin typeface="Noto Sans KR"/>
                <a:ea typeface="Noto Sans KR"/>
                <a:cs typeface="Noto Sans KR"/>
              </a:rPr>
              <a:t>현장 실증(TRL 8)</a:t>
            </a:r>
          </a:p>
          <a:p>
            <a:pPr marL="200000" indent="-200000">
              <a:spcAft>
                <a:spcPts val="1000"/>
              </a:spcAft>
              <a:buFont typeface="Arial"/>
              <a:buChar char="•"/>
            </a:pPr>
            <a:r>
              <a:rPr sz="1400" b="0" i="0" lang="ko-KR">
                <a:solidFill>
                  <a:srgbClr val="222222"/>
                </a:solidFill>
                <a:latin typeface="Noto Sans KR"/>
                <a:ea typeface="Noto Sans KR"/>
                <a:cs typeface="Noto Sans KR"/>
              </a:rPr>
              <a:t>혁신제품 지정 신청</a:t>
            </a:r>
          </a:p>
          <a:p>
            <a:pPr marL="200000" indent="-200000">
              <a:spcAft>
                <a:spcPts val="1000"/>
              </a:spcAft>
              <a:buFont typeface="Arial"/>
              <a:buChar char="•"/>
            </a:pPr>
            <a:r>
              <a:rPr sz="1400" b="0" i="0" lang="ko-KR">
                <a:solidFill>
                  <a:srgbClr val="222222"/>
                </a:solidFill>
                <a:latin typeface="Noto Sans KR"/>
                <a:ea typeface="Noto Sans KR"/>
                <a:cs typeface="Noto Sans KR"/>
              </a:rPr>
              <a:t>시범구매 30대 내외</a:t>
            </a:r>
          </a:p>
          <a:p>
            <a:pPr marL="200000" indent="-200000">
              <a:spcAft>
                <a:spcPts val="1000"/>
              </a:spcAft>
              <a:buFont typeface="Arial"/>
              <a:buChar char="•"/>
            </a:pPr>
            <a:r>
              <a:rPr sz="1400" b="0" i="0" lang="ko-KR">
                <a:solidFill>
                  <a:srgbClr val="222222"/>
                </a:solidFill>
                <a:latin typeface="Noto Sans KR"/>
                <a:ea typeface="Noto Sans KR"/>
                <a:cs typeface="Noto Sans KR"/>
              </a:rPr>
              <a:t>T3 단속형 시제품</a:t>
            </a:r>
          </a:p>
        </p:txBody>
      </p:sp>
      <p:sp>
        <p:nvSpPr>
          <p:cNvPr id="13" name="Pentagon 12"/>
          <p:cNvSpPr/>
          <p:nvPr/>
        </p:nvSpPr>
        <p:spPr>
          <a:xfrm>
            <a:off x="9081120" y="1250000"/>
            <a:ext cx="2745120" cy="800000"/>
          </a:xfrm>
          <a:prstGeom prst="homePlat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30000" bIns="30000"/>
          <a:lstStyle/>
          <a:p>
            <a:pPr algn="l"/>
            <a:r>
              <a:rPr sz="1400" b="1" i="0" lang="ko-KR">
                <a:solidFill>
                  <a:srgbClr val="FFFFFF"/>
                </a:solidFill>
                <a:latin typeface="Noto Sans KR"/>
                <a:ea typeface="Noto Sans KR"/>
                <a:cs typeface="Noto Sans KR"/>
              </a:rPr>
              <a:t>3단계</a:t>
            </a:r>
          </a:p>
          <a:p>
            <a:pPr algn="l"/>
            <a:r>
              <a:rPr sz="1400" b="1" i="0" lang="ko-KR">
                <a:solidFill>
                  <a:srgbClr val="FFFFFF"/>
                </a:solidFill>
                <a:latin typeface="Noto Sans KR"/>
                <a:ea typeface="Noto Sans KR"/>
                <a:cs typeface="Noto Sans KR"/>
              </a:rPr>
              <a:t>2029~ 직납 정착</a:t>
            </a:r>
          </a:p>
        </p:txBody>
      </p:sp>
      <p:sp>
        <p:nvSpPr>
          <p:cNvPr id="14" name="Rounded Rectangle 13"/>
          <p:cNvSpPr/>
          <p:nvPr/>
        </p:nvSpPr>
        <p:spPr>
          <a:xfrm>
            <a:off x="9081120" y="2200000"/>
            <a:ext cx="2745120" cy="30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41120" y="2350000"/>
            <a:ext cx="2425120" cy="2800000"/>
          </a:xfrm>
          <a:prstGeom prst="rect">
            <a:avLst/>
          </a:prstGeom>
          <a:noFill/>
        </p:spPr>
        <p:txBody>
          <a:bodyPr wrap="square" lIns="0" rIns="0" tIns="0" bIns="0" anchor="t">
            <a:noAutofit/>
          </a:bodyPr>
          <a:lstStyle/>
          <a:p>
            <a:pPr marL="200000" indent="-200000">
              <a:spcAft>
                <a:spcPts val="1000"/>
              </a:spcAft>
              <a:buFont typeface="Arial"/>
              <a:buChar char="•"/>
            </a:pPr>
            <a:r>
              <a:rPr sz="1400" b="0" i="0" lang="ko-KR">
                <a:solidFill>
                  <a:srgbClr val="222222"/>
                </a:solidFill>
                <a:latin typeface="Noto Sans KR"/>
                <a:ea typeface="Noto Sans KR"/>
                <a:cs typeface="Noto Sans KR"/>
              </a:rPr>
              <a:t>수의계약으로 시도청 직납 연 300대</a:t>
            </a:r>
          </a:p>
          <a:p>
            <a:pPr marL="200000" indent="-200000">
              <a:spcAft>
                <a:spcPts val="1000"/>
              </a:spcAft>
              <a:buFont typeface="Arial"/>
              <a:buChar char="•"/>
            </a:pPr>
            <a:r>
              <a:rPr sz="1400" b="0" i="0" lang="ko-KR">
                <a:solidFill>
                  <a:srgbClr val="222222"/>
                </a:solidFill>
                <a:latin typeface="Noto Sans KR"/>
                <a:ea typeface="Noto Sans KR"/>
                <a:cs typeface="Noto Sans KR"/>
              </a:rPr>
              <a:t>종합쇼핑몰 단품 등록</a:t>
            </a:r>
          </a:p>
          <a:p>
            <a:pPr marL="200000" indent="-200000">
              <a:spcAft>
                <a:spcPts val="1000"/>
              </a:spcAft>
              <a:buFont typeface="Arial"/>
              <a:buChar char="•"/>
            </a:pPr>
            <a:r>
              <a:rPr sz="1400" b="0" i="0" lang="ko-KR">
                <a:solidFill>
                  <a:srgbClr val="222222"/>
                </a:solidFill>
                <a:latin typeface="Noto Sans KR"/>
                <a:ea typeface="Noto Sans KR"/>
                <a:cs typeface="Noto Sans KR"/>
              </a:rPr>
              <a:t>T1 기본형으로 교체 수요 진입</a:t>
            </a:r>
          </a:p>
          <a:p>
            <a:pPr marL="200000" indent="-200000">
              <a:spcAft>
                <a:spcPts val="1000"/>
              </a:spcAft>
              <a:buFont typeface="Arial"/>
              <a:buChar char="•"/>
            </a:pPr>
            <a:r>
              <a:rPr sz="1400" b="0" i="0" lang="ko-KR">
                <a:solidFill>
                  <a:srgbClr val="222222"/>
                </a:solidFill>
                <a:latin typeface="Noto Sans KR"/>
                <a:ea typeface="Noto Sans KR"/>
                <a:cs typeface="Noto Sans KR"/>
              </a:rPr>
              <a:t>2030년 이후 연 1,000대</a:t>
            </a:r>
          </a:p>
        </p:txBody>
      </p:sp>
      <p:sp>
        <p:nvSpPr>
          <p:cNvPr id="16" name="Rounded Rectangle 15"/>
          <p:cNvSpPr/>
          <p:nvPr/>
        </p:nvSpPr>
        <p:spPr>
          <a:xfrm>
            <a:off x="365760" y="5450000"/>
            <a:ext cx="11460480" cy="75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5760" y="5480000"/>
            <a:ext cx="10960480" cy="690000"/>
          </a:xfrm>
          <a:prstGeom prst="rect">
            <a:avLst/>
          </a:prstGeom>
          <a:noFill/>
        </p:spPr>
        <p:txBody>
          <a:bodyPr wrap="square" lIns="0" rIns="0" tIns="0" bIns="0" anchor="ctr">
            <a:noAutofit/>
          </a:bodyPr>
          <a:lstStyle/>
          <a:p>
            <a:pPr>
              <a:spcAft>
                <a:spcPts val="400"/>
              </a:spcAft>
            </a:pPr>
            <a:r>
              <a:rPr sz="1400" b="1" i="0" lang="ko-KR">
                <a:solidFill>
                  <a:srgbClr val="1F3A93"/>
                </a:solidFill>
                <a:latin typeface="Noto Sans KR"/>
                <a:ea typeface="Noto Sans KR"/>
                <a:cs typeface="Noto Sans KR"/>
              </a:rPr>
              <a:t>목표 직납 구조: ① 교통단속장비 2번째 공급사(2027~)  ② 혁신제품 수의계약·시범구매(2028~)  ③ 종합쇼핑몰(2029~)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매출 목표(가정): 2029년 직납 첫해 흑자 전환</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수치는 모두 당사 가정이며 경찰청 물량과 직납 단가는 확인되지 않았다</a:t>
            </a:r>
          </a:p>
        </p:txBody>
      </p:sp>
      <p:graphicFrame>
        <p:nvGraphicFramePr>
          <p:cNvPr id="4" name="Chart 3"/>
          <p:cNvGraphicFramePr>
            <a:graphicFrameLocks noGrp="1"/>
          </p:cNvGraphicFramePr>
          <p:nvPr/>
        </p:nvGraphicFramePr>
        <p:xfrm>
          <a:off x="365760" y="1200000"/>
          <a:ext cx="6900000" cy="4600000"/>
        </p:xfrm>
        <a:graphic>
          <a:graphicData uri="http://schemas.openxmlformats.org/drawingml/2006/chart">
            <c:chart xmlns:c="http://schemas.openxmlformats.org/drawingml/2006/chart" r:id="rId3"/>
          </a:graphicData>
        </a:graphic>
      </p:graphicFrame>
      <p:sp>
        <p:nvSpPr>
          <p:cNvPr id="5" name="Rounded Rectangle 4"/>
          <p:cNvSpPr/>
          <p:nvPr/>
        </p:nvSpPr>
        <p:spPr>
          <a:xfrm>
            <a:off x="7500000" y="1200000"/>
            <a:ext cx="4326240" cy="46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20000" y="1350000"/>
            <a:ext cx="3886240" cy="4300000"/>
          </a:xfrm>
          <a:prstGeom prst="rect">
            <a:avLst/>
          </a:prstGeom>
          <a:noFill/>
        </p:spPr>
        <p:txBody>
          <a:bodyPr wrap="square" lIns="0" rIns="0" tIns="0" bIns="0" anchor="t">
            <a:noAutofit/>
          </a:bodyPr>
          <a:lstStyle/>
          <a:p>
            <a:pPr>
              <a:spcAft>
                <a:spcPts val="600"/>
              </a:spcAft>
            </a:pPr>
            <a:r>
              <a:rPr sz="1500" b="1" i="0" lang="ko-KR">
                <a:solidFill>
                  <a:srgbClr val="1F3A93"/>
                </a:solidFill>
                <a:latin typeface="Noto Sans KR"/>
                <a:ea typeface="Noto Sans KR"/>
                <a:cs typeface="Noto Sans KR"/>
              </a:rPr>
              <a:t>가정</a:t>
            </a:r>
          </a:p>
          <a:p>
            <a:pPr>
              <a:spcAft>
                <a:spcPts val="1000"/>
              </a:spcAft>
            </a:pPr>
            <a:r>
              <a:rPr sz="1400" b="0" i="0" lang="ko-KR">
                <a:solidFill>
                  <a:srgbClr val="222222"/>
                </a:solidFill>
                <a:latin typeface="Noto Sans KR"/>
                <a:ea typeface="Noto Sans KR"/>
                <a:cs typeface="Noto Sans KR"/>
              </a:rPr>
              <a:t>순찰차 경광등 수요 연 1,000~1,200대 (경찰청 확인 필요)</a:t>
            </a:r>
          </a:p>
          <a:p>
            <a:pPr>
              <a:spcAft>
                <a:spcPts val="1000"/>
              </a:spcAft>
            </a:pPr>
            <a:r>
              <a:rPr sz="1400" b="0" i="0" lang="ko-KR">
                <a:solidFill>
                  <a:srgbClr val="222222"/>
                </a:solidFill>
                <a:latin typeface="Noto Sans KR"/>
                <a:ea typeface="Noto Sans KR"/>
                <a:cs typeface="Noto Sans KR"/>
              </a:rPr>
              <a:t>T2 단가 600만 원</a:t>
            </a:r>
          </a:p>
          <a:p>
            <a:pPr>
              <a:spcAft>
                <a:spcPts val="1000"/>
              </a:spcAft>
            </a:pPr>
            <a:r>
              <a:rPr sz="1400" b="0" i="0" lang="ko-KR">
                <a:solidFill>
                  <a:srgbClr val="222222"/>
                </a:solidFill>
                <a:latin typeface="Noto Sans KR"/>
                <a:ea typeface="Noto Sans KR"/>
                <a:cs typeface="Noto Sans KR"/>
              </a:rPr>
              <a:t>2028 시범구매 30대 (1.8억 원)</a:t>
            </a:r>
          </a:p>
          <a:p>
            <a:pPr>
              <a:spcAft>
                <a:spcPts val="1000"/>
              </a:spcAft>
            </a:pPr>
            <a:r>
              <a:rPr sz="1400" b="0" i="0" lang="ko-KR">
                <a:solidFill>
                  <a:srgbClr val="222222"/>
                </a:solidFill>
                <a:latin typeface="Noto Sans KR"/>
                <a:ea typeface="Noto Sans KR"/>
                <a:cs typeface="Noto Sans KR"/>
              </a:rPr>
              <a:t>2029 직납 300대 (18억 원)</a:t>
            </a:r>
          </a:p>
          <a:p>
            <a:pPr>
              <a:spcAft>
                <a:spcPts val="1000"/>
              </a:spcAft>
            </a:pPr>
            <a:r>
              <a:rPr sz="1400" b="0" i="0" lang="ko-KR">
                <a:solidFill>
                  <a:srgbClr val="222222"/>
                </a:solidFill>
                <a:latin typeface="Noto Sans KR"/>
                <a:ea typeface="Noto Sans KR"/>
                <a:cs typeface="Noto Sans KR"/>
              </a:rPr>
              <a:t>2030 직납 600대 (36억 원)</a:t>
            </a:r>
          </a:p>
          <a:p>
            <a:pPr>
              <a:spcAft>
                <a:spcPts val="1000"/>
              </a:spcAft>
            </a:pPr>
            <a:r>
              <a:rPr sz="1400" b="0" i="0" lang="ko-KR">
                <a:solidFill>
                  <a:srgbClr val="222222"/>
                </a:solidFill>
                <a:latin typeface="Noto Sans KR"/>
                <a:ea typeface="Noto Sans KR"/>
                <a:cs typeface="Noto Sans KR"/>
              </a:rPr>
              <a:t>레이더 모듈 공급은 특장업체·완성차 대상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1억 원 이상 정부 R&amp;D 과제 후보</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구매연계형과 폴리스랩 3.0이 우선이고, 조달청 과제는 수요 목록 확인 후 정한다</a:t>
            </a:r>
          </a:p>
        </p:txBody>
      </p:sp>
      <p:graphicFrame>
        <p:nvGraphicFramePr>
          <p:cNvPr id="4" name="Table 3"/>
          <p:cNvGraphicFramePr>
            <a:graphicFrameLocks noGrp="1"/>
          </p:cNvGraphicFramePr>
          <p:nvPr/>
        </p:nvGraphicFramePr>
        <p:xfrm>
          <a:off x="365760" y="1200000"/>
          <a:ext cx="11460480" cy="4508358"/>
        </p:xfrm>
        <a:graphic>
          <a:graphicData uri="http://schemas.openxmlformats.org/drawingml/2006/table">
            <a:tbl>
              <a:tblPr/>
              <a:tblGrid>
                <a:gridCol w="2900000"/>
                <a:gridCol w="1450000"/>
                <a:gridCol w="1600000"/>
                <a:gridCol w="1800000"/>
                <a:gridCol w="2610480"/>
                <a:gridCol w="1100000"/>
              </a:tblGrid>
              <a:tr h="640000">
                <a:tc>
                  <a:txBody>
                    <a:bodyPr wrap="square"/>
                    <a:lstStyle/>
                    <a:p>
                      <a:r>
                        <a:rPr sz="1150" b="1" i="0" lang="ko-KR">
                          <a:solidFill>
                            <a:srgbClr val="FFFFFF"/>
                          </a:solidFill>
                          <a:latin typeface="Noto Sans KR"/>
                          <a:ea typeface="Noto Sans KR"/>
                          <a:cs typeface="Noto Sans KR"/>
                        </a:rPr>
                        <a:t>과제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150" b="1" i="0" lang="ko-KR">
                          <a:solidFill>
                            <a:srgbClr val="FFFFFF"/>
                          </a:solidFill>
                          <a:latin typeface="Noto Sans KR"/>
                          <a:ea typeface="Noto Sans KR"/>
                          <a:cs typeface="Noto Sans KR"/>
                        </a:rPr>
                        <a:t>주관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150" b="1" i="0" lang="ko-KR">
                          <a:solidFill>
                            <a:srgbClr val="FFFFFF"/>
                          </a:solidFill>
                          <a:latin typeface="Noto Sans KR"/>
                          <a:ea typeface="Noto Sans KR"/>
                          <a:cs typeface="Noto Sans KR"/>
                        </a:rPr>
                        <a:t>과제당 지원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150" b="1" i="0" lang="ko-KR">
                          <a:solidFill>
                            <a:srgbClr val="FFFFFF"/>
                          </a:solidFill>
                          <a:latin typeface="Noto Sans KR"/>
                          <a:ea typeface="Noto Sans KR"/>
                          <a:cs typeface="Noto Sans KR"/>
                        </a:rPr>
                        <a:t>2026 일정(참고)</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150" b="1" i="0" lang="ko-KR">
                          <a:solidFill>
                            <a:srgbClr val="FFFFFF"/>
                          </a:solidFill>
                          <a:latin typeface="Noto Sans KR"/>
                          <a:ea typeface="Noto Sans KR"/>
                          <a:cs typeface="Noto Sans KR"/>
                        </a:rPr>
                        <a:t>핵심 요건</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150" b="1" i="0" lang="ko-KR">
                          <a:solidFill>
                            <a:srgbClr val="FFFFFF"/>
                          </a:solidFill>
                          <a:latin typeface="Noto Sans KR"/>
                          <a:ea typeface="Noto Sans KR"/>
                          <a:cs typeface="Noto Sans KR"/>
                        </a:rPr>
                        <a:t>적합도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640000">
                <a:tc>
                  <a:txBody>
                    <a:bodyPr wrap="square"/>
                    <a:lstStyle/>
                    <a:p>
                      <a:r>
                        <a:rPr sz="1150" b="1" i="0" lang="ko-KR">
                          <a:solidFill>
                            <a:srgbClr val="222222"/>
                          </a:solidFill>
                          <a:latin typeface="Noto Sans KR"/>
                          <a:ea typeface="Noto Sans KR"/>
                          <a:cs typeface="Noto Sans KR"/>
                        </a:rPr>
                        <a:t>민관공동기술사업화 R&amp;D 구매연계형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중기부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2년 최대 6억</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3차 공고 5/25, 접수 6/15~6/29</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수요처 구매동의서 또는 구매계약서, 상반기 접수 시기 미확인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150" b="0" i="0" lang="ko-KR">
                          <a:solidFill>
                            <a:srgbClr val="222222"/>
                          </a:solidFill>
                          <a:latin typeface="Noto Sans KR"/>
                          <a:ea typeface="Noto Sans KR"/>
                          <a:cs typeface="Noto Sans KR"/>
                        </a:rPr>
                        <a:t>★★★★★</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68358">
                <a:tc>
                  <a:txBody>
                    <a:bodyPr wrap="square"/>
                    <a:lstStyle/>
                    <a:p>
                      <a:r>
                        <a:rPr sz="1150" b="1" i="0" lang="ko-KR">
                          <a:solidFill>
                            <a:srgbClr val="222222"/>
                          </a:solidFill>
                          <a:latin typeface="Noto Sans KR"/>
                          <a:ea typeface="Noto Sans KR"/>
                          <a:cs typeface="Noto Sans KR"/>
                        </a:rPr>
                        <a:t>공공혁신수요기반 혁신제품 기술개발 시범구매연계형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조달청</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2년 내외 10억 내외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공고 5/13, 접수 5/18~6/10</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기업부설연구소 필수, 지정 수요 12개 중 1개 선택, 경광등 수요 미확인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150" b="0" i="0" lang="ko-KR">
                          <a:solidFill>
                            <a:srgbClr val="222222"/>
                          </a:solidFill>
                          <a:latin typeface="Noto Sans KR"/>
                          <a:ea typeface="Noto Sans KR"/>
                          <a:cs typeface="Noto Sans KR"/>
                        </a:rPr>
                        <a:t>★★★</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150" b="1" i="0" lang="ko-KR">
                          <a:solidFill>
                            <a:srgbClr val="222222"/>
                          </a:solidFill>
                          <a:latin typeface="Noto Sans KR"/>
                          <a:ea typeface="Noto Sans KR"/>
                          <a:cs typeface="Noto Sans KR"/>
                        </a:rPr>
                        <a:t>치안현장 맞춤형 R&amp;D 폴리스랩 3.0 신속시범형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과기정통부·경찰청</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18개월 9억(선정 사례, 한도 미확인)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선정계획 공고 4/21, 7월 착수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시제품 보유, 18개월 내 TRL 8·현장 실증, 기업 주관 가능</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150" b="0" i="0" lang="ko-KR">
                          <a:solidFill>
                            <a:srgbClr val="222222"/>
                          </a:solidFill>
                          <a:latin typeface="Noto Sans KR"/>
                          <a:ea typeface="Noto Sans KR"/>
                          <a:cs typeface="Noto Sans KR"/>
                        </a:rPr>
                        <a:t>★★★★★</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150" b="1" i="0" lang="ko-KR">
                          <a:solidFill>
                            <a:srgbClr val="222222"/>
                          </a:solidFill>
                          <a:latin typeface="Noto Sans KR"/>
                          <a:ea typeface="Noto Sans KR"/>
                          <a:cs typeface="Noto Sans KR"/>
                        </a:rPr>
                        <a:t>치안신산업 핵심기술 사업화 지원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과기정통부·경찰청</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2년 5억 내외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~3/3 접수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치안 R&amp;D 성과 보유, 제품화·인증·시장진출 지원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150" b="0" i="0" lang="ko-KR">
                          <a:solidFill>
                            <a:srgbClr val="222222"/>
                          </a:solidFill>
                          <a:latin typeface="Noto Sans KR"/>
                          <a:ea typeface="Noto Sans KR"/>
                          <a:cs typeface="Noto Sans KR"/>
                        </a:rPr>
                        <a:t>★★★★</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150" b="1" i="0" lang="ko-KR">
                          <a:solidFill>
                            <a:srgbClr val="222222"/>
                          </a:solidFill>
                          <a:latin typeface="Noto Sans KR"/>
                          <a:ea typeface="Noto Sans KR"/>
                          <a:cs typeface="Noto Sans KR"/>
                        </a:rPr>
                        <a:t>기술혁신개발사업 시장대응형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중기부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2년 5억</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상·하반기</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중소기업, 수요처 불요(예비)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150" b="0" i="0" lang="ko-KR">
                          <a:solidFill>
                            <a:srgbClr val="222222"/>
                          </a:solidFill>
                          <a:latin typeface="Noto Sans KR"/>
                          <a:ea typeface="Noto Sans KR"/>
                          <a:cs typeface="Noto Sans KR"/>
                        </a:rPr>
                        <a:t>★★★</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150" b="1" i="0" lang="ko-KR">
                          <a:solidFill>
                            <a:srgbClr val="222222"/>
                          </a:solidFill>
                          <a:latin typeface="Noto Sans KR"/>
                          <a:ea typeface="Noto Sans KR"/>
                          <a:cs typeface="Noto Sans KR"/>
                        </a:rPr>
                        <a:t>경찰청 R&amp;D 기술수요조사</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경찰청</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과제 아님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3/23~4/21</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50" b="0" i="0" lang="ko-KR">
                          <a:solidFill>
                            <a:srgbClr val="222222"/>
                          </a:solidFill>
                          <a:latin typeface="Noto Sans KR"/>
                          <a:ea typeface="Noto Sans KR"/>
                          <a:cs typeface="Noto Sans KR"/>
                        </a:rPr>
                        <a:t>누구나 제출, 채택 시 지정공모 과제로 기획</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150" b="0" i="0" lang="ko-KR">
                          <a:solidFill>
                            <a:srgbClr val="222222"/>
                          </a:solidFill>
                          <a:latin typeface="Noto Sans KR"/>
                          <a:ea typeface="Noto Sans KR"/>
                          <a:cs typeface="Noto Sans KR"/>
                        </a:rPr>
                        <a:t>필수 활동</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추천 신청 조합과 2027년 캘린더</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수요처 협의가 가장 오래 걸리므로 2026년 4분기에 시작한다</a:t>
            </a:r>
          </a:p>
        </p:txBody>
      </p:sp>
      <p:sp>
        <p:nvSpPr>
          <p:cNvPr id="4" name="Rounded Rectangle 3"/>
          <p:cNvSpPr/>
          <p:nvPr/>
        </p:nvSpPr>
        <p:spPr>
          <a:xfrm>
            <a:off x="365760" y="1200000"/>
            <a:ext cx="5400000" cy="16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5760" y="1320000"/>
            <a:ext cx="5000000" cy="1400000"/>
          </a:xfrm>
          <a:prstGeom prst="rect">
            <a:avLst/>
          </a:prstGeom>
          <a:noFill/>
        </p:spPr>
        <p:txBody>
          <a:bodyPr wrap="square" lIns="0" rIns="0" tIns="0" bIns="0" anchor="t">
            <a:noAutofit/>
          </a:bodyPr>
          <a:lstStyle/>
          <a:p>
            <a:pPr>
              <a:spcAft>
                <a:spcPts val="300"/>
              </a:spcAft>
            </a:pPr>
            <a:r>
              <a:rPr sz="1600" b="1" i="0" lang="ko-KR">
                <a:solidFill>
                  <a:srgbClr val="1F3A93"/>
                </a:solidFill>
                <a:latin typeface="Noto Sans KR"/>
                <a:ea typeface="Noto Sans KR"/>
                <a:cs typeface="Noto Sans KR"/>
              </a:rPr>
              <a:t>기본안</a:t>
            </a:r>
          </a:p>
          <a:p>
            <a:pPr>
              <a:spcAft>
                <a:spcPts val="400"/>
              </a:spcAft>
            </a:pPr>
            <a:r>
              <a:rPr sz="1300" b="0" i="0" lang="ko-KR">
                <a:solidFill>
                  <a:srgbClr val="222222"/>
                </a:solidFill>
                <a:latin typeface="Noto Sans KR"/>
                <a:ea typeface="Noto Sans KR"/>
                <a:cs typeface="Noto Sans KR"/>
              </a:rPr>
              <a:t>구매연계형(6억) + 폴리스랩 신속시범(9억). 수요처가 다르면 중복이 아니며 한 건만 선정돼도 개발비를 충당한다.</a:t>
            </a:r>
          </a:p>
        </p:txBody>
      </p:sp>
      <p:sp>
        <p:nvSpPr>
          <p:cNvPr id="6" name="Rounded Rectangle 5"/>
          <p:cNvSpPr/>
          <p:nvPr/>
        </p:nvSpPr>
        <p:spPr>
          <a:xfrm>
            <a:off x="365760" y="2900000"/>
            <a:ext cx="5400000" cy="16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5760" y="3020000"/>
            <a:ext cx="5000000" cy="1400000"/>
          </a:xfrm>
          <a:prstGeom prst="rect">
            <a:avLst/>
          </a:prstGeom>
          <a:noFill/>
        </p:spPr>
        <p:txBody>
          <a:bodyPr wrap="square" lIns="0" rIns="0" tIns="0" bIns="0" anchor="t">
            <a:noAutofit/>
          </a:bodyPr>
          <a:lstStyle/>
          <a:p>
            <a:pPr>
              <a:spcAft>
                <a:spcPts val="300"/>
              </a:spcAft>
            </a:pPr>
            <a:r>
              <a:rPr sz="1600" b="1" i="0" lang="ko-KR">
                <a:solidFill>
                  <a:srgbClr val="1F3A93"/>
                </a:solidFill>
                <a:latin typeface="Noto Sans KR"/>
                <a:ea typeface="Noto Sans KR"/>
                <a:cs typeface="Noto Sans KR"/>
              </a:rPr>
              <a:t>대안</a:t>
            </a:r>
          </a:p>
          <a:p>
            <a:pPr>
              <a:spcAft>
                <a:spcPts val="400"/>
              </a:spcAft>
            </a:pPr>
            <a:r>
              <a:rPr sz="1300" b="0" i="0" lang="ko-KR">
                <a:solidFill>
                  <a:srgbClr val="222222"/>
                </a:solidFill>
                <a:latin typeface="Noto Sans KR"/>
                <a:ea typeface="Noto Sans KR"/>
                <a:cs typeface="Noto Sans KR"/>
              </a:rPr>
              <a:t>조달청 시범구매연계형(10억) 단독. 지정 수요 12개 중 경광등 관련 수요가 있을 때만 가능하며 금액은 가장 크다.</a:t>
            </a:r>
          </a:p>
        </p:txBody>
      </p:sp>
      <p:sp>
        <p:nvSpPr>
          <p:cNvPr id="8" name="Rounded Rectangle 7"/>
          <p:cNvSpPr/>
          <p:nvPr/>
        </p:nvSpPr>
        <p:spPr>
          <a:xfrm>
            <a:off x="365760" y="4600000"/>
            <a:ext cx="5400000" cy="16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5760" y="4720000"/>
            <a:ext cx="5000000" cy="1400000"/>
          </a:xfrm>
          <a:prstGeom prst="rect">
            <a:avLst/>
          </a:prstGeom>
          <a:noFill/>
        </p:spPr>
        <p:txBody>
          <a:bodyPr wrap="square" lIns="0" rIns="0" tIns="0" bIns="0" anchor="t">
            <a:noAutofit/>
          </a:bodyPr>
          <a:lstStyle/>
          <a:p>
            <a:pPr>
              <a:spcAft>
                <a:spcPts val="300"/>
              </a:spcAft>
            </a:pPr>
            <a:r>
              <a:rPr sz="1600" b="1" i="0" lang="ko-KR">
                <a:solidFill>
                  <a:srgbClr val="1F3A93"/>
                </a:solidFill>
                <a:latin typeface="Noto Sans KR"/>
                <a:ea typeface="Noto Sans KR"/>
                <a:cs typeface="Noto Sans KR"/>
              </a:rPr>
              <a:t>후속(2028~2029)</a:t>
            </a:r>
          </a:p>
          <a:p>
            <a:pPr>
              <a:spcAft>
                <a:spcPts val="400"/>
              </a:spcAft>
            </a:pPr>
            <a:r>
              <a:rPr sz="1300" b="0" i="0" lang="ko-KR">
                <a:solidFill>
                  <a:srgbClr val="222222"/>
                </a:solidFill>
                <a:latin typeface="Noto Sans KR"/>
                <a:ea typeface="Noto Sans KR"/>
                <a:cs typeface="Noto Sans KR"/>
              </a:rPr>
              <a:t>치안신산업 사업화 지원(5억) + 혁신제품 지정. 폴리스랩 성과를 제품화·인증·판로로 잇는다.</a:t>
            </a:r>
          </a:p>
        </p:txBody>
      </p:sp>
      <p:graphicFrame>
        <p:nvGraphicFramePr>
          <p:cNvPr id="10" name="Table 9"/>
          <p:cNvGraphicFramePr>
            <a:graphicFrameLocks noGrp="1"/>
          </p:cNvGraphicFramePr>
          <p:nvPr/>
        </p:nvGraphicFramePr>
        <p:xfrm>
          <a:off x="6000000" y="1200000"/>
          <a:ext cx="5826240" cy="4800000"/>
        </p:xfrm>
        <a:graphic>
          <a:graphicData uri="http://schemas.openxmlformats.org/drawingml/2006/table">
            <a:tbl>
              <a:tblPr/>
              <a:tblGrid>
                <a:gridCol w="1500000"/>
                <a:gridCol w="4326240"/>
              </a:tblGrid>
              <a:tr h="600000">
                <a:tc>
                  <a:txBody>
                    <a:bodyPr wrap="square"/>
                    <a:lstStyle/>
                    <a:p>
                      <a:r>
                        <a:rPr sz="1250" b="1" i="0" lang="ko-KR">
                          <a:solidFill>
                            <a:srgbClr val="FFFFFF"/>
                          </a:solidFill>
                          <a:latin typeface="Noto Sans KR"/>
                          <a:ea typeface="Noto Sans KR"/>
                          <a:cs typeface="Noto Sans KR"/>
                        </a:rPr>
                        <a:t>시기</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50" b="1" i="0" lang="ko-KR">
                          <a:solidFill>
                            <a:srgbClr val="FFFFFF"/>
                          </a:solidFill>
                          <a:latin typeface="Noto Sans KR"/>
                          <a:ea typeface="Noto Sans KR"/>
                          <a:cs typeface="Noto Sans KR"/>
                        </a:rPr>
                        <a:t>할 일</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600000">
                <a:tc>
                  <a:txBody>
                    <a:bodyPr wrap="square"/>
                    <a:lstStyle/>
                    <a:p>
                      <a:r>
                        <a:rPr sz="1250" b="1" i="0" lang="ko-KR">
                          <a:solidFill>
                            <a:srgbClr val="222222"/>
                          </a:solidFill>
                          <a:latin typeface="Noto Sans KR"/>
                          <a:ea typeface="Noto Sans KR"/>
                          <a:cs typeface="Noto Sans KR"/>
                        </a:rPr>
                        <a:t>2026.10~12</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수요처 구매동의서 협의, 특허 FTO, 기획서, ODM 확약, KPEX 신청</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2027.1~2</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구매연계형 상반기 접수, 벤처·이노비즈 등 가점 인증 확인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2027.2~3</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치안신산업 사업화 지원 공고 확인(공동 참여 검토)</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2027.3~4</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경찰청 R&amp;D 기술수요조사 수요 제출, 폴리스랩 3.0 접수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2027.5~6</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조달청 시범구매연계형 접수(수요 목록 확인 후), 구매연계형 하반기</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2027.7~</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선정 과제 착수, 시제품 제작, 시범 장착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2028.1~3</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혁신제품 상반기 지정 신청</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제안 과제 개요: 24개월, 총 7.3억 원</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기본안은 중기부 구매연계형이며 공고별 서식에 맞춰 조정한다</a:t>
            </a:r>
          </a:p>
        </p:txBody>
      </p:sp>
      <p:graphicFrame>
        <p:nvGraphicFramePr>
          <p:cNvPr id="4" name="Table 3"/>
          <p:cNvGraphicFramePr>
            <a:graphicFrameLocks noGrp="1"/>
          </p:cNvGraphicFramePr>
          <p:nvPr/>
        </p:nvGraphicFramePr>
        <p:xfrm>
          <a:off x="365760" y="1200000"/>
          <a:ext cx="6600000" cy="4200000"/>
        </p:xfrm>
        <a:graphic>
          <a:graphicData uri="http://schemas.openxmlformats.org/drawingml/2006/table">
            <a:tbl>
              <a:tblPr/>
              <a:tblGrid>
                <a:gridCol w="1400000"/>
                <a:gridCol w="5200000"/>
              </a:tblGrid>
              <a:tr h="600000">
                <a:tc>
                  <a:txBody>
                    <a:bodyPr wrap="square"/>
                    <a:lstStyle/>
                    <a:p>
                      <a:r>
                        <a:rPr sz="1250" b="1" i="0" lang="ko-KR">
                          <a:solidFill>
                            <a:srgbClr val="FFFFFF"/>
                          </a:solidFill>
                          <a:latin typeface="Noto Sans KR"/>
                          <a:ea typeface="Noto Sans KR"/>
                          <a:cs typeface="Noto Sans KR"/>
                        </a:rPr>
                        <a:t>항목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50" b="1" i="0" lang="ko-KR">
                          <a:solidFill>
                            <a:srgbClr val="FFFFFF"/>
                          </a:solidFill>
                          <a:latin typeface="Noto Sans KR"/>
                          <a:ea typeface="Noto Sans KR"/>
                          <a:cs typeface="Noto Sans KR"/>
                        </a:rPr>
                        <a:t>내용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600000">
                <a:tc>
                  <a:txBody>
                    <a:bodyPr wrap="square"/>
                    <a:lstStyle/>
                    <a:p>
                      <a:r>
                        <a:rPr sz="1250" b="1" i="0" lang="ko-KR">
                          <a:solidFill>
                            <a:srgbClr val="222222"/>
                          </a:solidFill>
                          <a:latin typeface="Noto Sans KR"/>
                          <a:ea typeface="Noto Sans KR"/>
                          <a:cs typeface="Noto Sans KR"/>
                        </a:rPr>
                        <a:t>과제명</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주행·정차 중 전·후방 레이더 기반 2차사고 예방 및 과속 검지 기능을 갖춘 레이더 일체형 스마트 경찰 경광등 개발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주관기관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엠클라비스㈜ (2016년 설립, 서울 서초구)</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협력</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경광등 하우징·광학 협력사, 시험인증기관, 실증 경찰관서, 수요처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기간 · 사업비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24개월, 7.3억 원 (정부 5.5억 + 민간 1.8억: 현금 0.9, 현물 0.9)</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기술성숙도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TRL 4 → 8 (순찰차 10대 3개월 실증)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50" b="1" i="0" lang="ko-KR">
                          <a:solidFill>
                            <a:srgbClr val="222222"/>
                          </a:solidFill>
                          <a:latin typeface="Noto Sans KR"/>
                          <a:ea typeface="Noto Sans KR"/>
                          <a:cs typeface="Noto Sans KR"/>
                        </a:rPr>
                        <a:t>사업화</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50" b="0" i="0" lang="ko-KR">
                          <a:solidFill>
                            <a:srgbClr val="222222"/>
                          </a:solidFill>
                          <a:latin typeface="Noto Sans KR"/>
                          <a:ea typeface="Noto Sans KR"/>
                          <a:cs typeface="Noto Sans KR"/>
                        </a:rPr>
                        <a:t>혁신제품 지정 신청, 시범구매 30대, 3년차 직납 연 300대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graphicFrame>
        <p:nvGraphicFramePr>
          <p:cNvPr id="5" name="Chart 4"/>
          <p:cNvGraphicFramePr>
            <a:graphicFrameLocks noGrp="1"/>
          </p:cNvGraphicFramePr>
          <p:nvPr/>
        </p:nvGraphicFramePr>
        <p:xfrm>
          <a:off x="7300000" y="1200000"/>
          <a:ext cx="4526240" cy="4700000"/>
        </p:xfrm>
        <a:graphic>
          <a:graphicData uri="http://schemas.openxmlformats.org/drawingml/2006/chart">
            <c:chart xmlns:c="http://schemas.openxmlformats.org/drawingml/2006/chart" r:id="rId3"/>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워크패키지와 24개월 일정</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1차년도에 TRL 6, 2차년도에 인증과 현장 실증으로 TRL 8을 달성한다</a:t>
            </a:r>
          </a:p>
        </p:txBody>
      </p:sp>
      <p:graphicFrame>
        <p:nvGraphicFramePr>
          <p:cNvPr id="4" name="Table 3"/>
          <p:cNvGraphicFramePr>
            <a:graphicFrameLocks noGrp="1"/>
          </p:cNvGraphicFramePr>
          <p:nvPr/>
        </p:nvGraphicFramePr>
        <p:xfrm>
          <a:off x="365760" y="1150000"/>
          <a:ext cx="11460480" cy="1900000"/>
        </p:xfrm>
        <a:graphic>
          <a:graphicData uri="http://schemas.openxmlformats.org/drawingml/2006/table">
            <a:tbl>
              <a:tblPr/>
              <a:tblGrid>
                <a:gridCol w="800000"/>
                <a:gridCol w="6000000"/>
                <a:gridCol w="3400000"/>
                <a:gridCol w="1260480"/>
              </a:tblGrid>
              <a:tr h="380000">
                <a:tc>
                  <a:txBody>
                    <a:bodyPr wrap="square"/>
                    <a:lstStyle/>
                    <a:p>
                      <a:pPr algn="ctr"/>
                      <a:r>
                        <a:rPr sz="1100" b="1" i="0" lang="ko-KR">
                          <a:solidFill>
                            <a:srgbClr val="FFFFFF"/>
                          </a:solidFill>
                          <a:latin typeface="Noto Sans KR"/>
                          <a:ea typeface="Noto Sans KR"/>
                          <a:cs typeface="Noto Sans KR"/>
                        </a:rPr>
                        <a:t>WP</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100" b="1" i="0" lang="ko-KR">
                          <a:solidFill>
                            <a:srgbClr val="FFFFFF"/>
                          </a:solidFill>
                          <a:latin typeface="Noto Sans KR"/>
                          <a:ea typeface="Noto Sans KR"/>
                          <a:cs typeface="Noto Sans KR"/>
                        </a:rPr>
                        <a:t>내용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100" b="1" i="0" lang="ko-KR">
                          <a:solidFill>
                            <a:srgbClr val="FFFFFF"/>
                          </a:solidFill>
                          <a:latin typeface="Noto Sans KR"/>
                          <a:ea typeface="Noto Sans KR"/>
                          <a:cs typeface="Noto Sans KR"/>
                        </a:rPr>
                        <a:t>담당</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100" b="1" i="0" lang="ko-KR">
                          <a:solidFill>
                            <a:srgbClr val="FFFFFF"/>
                          </a:solidFill>
                          <a:latin typeface="Noto Sans KR"/>
                          <a:ea typeface="Noto Sans KR"/>
                          <a:cs typeface="Noto Sans KR"/>
                        </a:rPr>
                        <a:t>기간(개월)</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380000">
                <a:tc>
                  <a:txBody>
                    <a:bodyPr wrap="square"/>
                    <a:lstStyle/>
                    <a:p>
                      <a:pPr algn="ctr"/>
                      <a:r>
                        <a:rPr sz="1100" b="1" i="0" lang="ko-KR">
                          <a:solidFill>
                            <a:srgbClr val="222222"/>
                          </a:solidFill>
                          <a:latin typeface="Noto Sans KR"/>
                          <a:ea typeface="Noto Sans KR"/>
                          <a:cs typeface="Noto Sans KR"/>
                        </a:rPr>
                        <a:t>WP1</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00" b="0" i="0" lang="ko-KR">
                          <a:solidFill>
                            <a:srgbClr val="222222"/>
                          </a:solidFill>
                          <a:latin typeface="Noto Sans KR"/>
                          <a:ea typeface="Noto Sans KR"/>
                          <a:cs typeface="Noto Sans KR"/>
                        </a:rPr>
                        <a:t>이동 플랫폼 레이더 신호처리, 후방 위험도 산출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00" b="0" i="0" lang="ko-KR">
                          <a:solidFill>
                            <a:srgbClr val="222222"/>
                          </a:solidFill>
                          <a:latin typeface="Noto Sans KR"/>
                          <a:ea typeface="Noto Sans KR"/>
                          <a:cs typeface="Noto Sans KR"/>
                        </a:rPr>
                        <a:t>엠클라비스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100" b="0" i="0" lang="ko-KR">
                          <a:solidFill>
                            <a:srgbClr val="222222"/>
                          </a:solidFill>
                          <a:latin typeface="Noto Sans KR"/>
                          <a:ea typeface="Noto Sans KR"/>
                          <a:cs typeface="Noto Sans KR"/>
                        </a:rPr>
                        <a:t>1~14</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380000">
                <a:tc>
                  <a:txBody>
                    <a:bodyPr wrap="square"/>
                    <a:lstStyle/>
                    <a:p>
                      <a:pPr algn="ctr"/>
                      <a:r>
                        <a:rPr sz="1100" b="1" i="0" lang="ko-KR">
                          <a:solidFill>
                            <a:srgbClr val="222222"/>
                          </a:solidFill>
                          <a:latin typeface="Noto Sans KR"/>
                          <a:ea typeface="Noto Sans KR"/>
                          <a:cs typeface="Noto Sans KR"/>
                        </a:rPr>
                        <a:t>WP2</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00" b="0" i="0" lang="ko-KR">
                          <a:solidFill>
                            <a:srgbClr val="222222"/>
                          </a:solidFill>
                          <a:latin typeface="Noto Sans KR"/>
                          <a:ea typeface="Noto Sans KR"/>
                          <a:cs typeface="Noto Sans KR"/>
                        </a:rPr>
                        <a:t>경광등 일체형 하우징·광학·전원·EMI 설계, 리프트 연동</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00" b="0" i="0" lang="ko-KR">
                          <a:solidFill>
                            <a:srgbClr val="222222"/>
                          </a:solidFill>
                          <a:latin typeface="Noto Sans KR"/>
                          <a:ea typeface="Noto Sans KR"/>
                          <a:cs typeface="Noto Sans KR"/>
                        </a:rPr>
                        <a:t>협력사 + 엠클라비스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100" b="0" i="0" lang="ko-KR">
                          <a:solidFill>
                            <a:srgbClr val="222222"/>
                          </a:solidFill>
                          <a:latin typeface="Noto Sans KR"/>
                          <a:ea typeface="Noto Sans KR"/>
                          <a:cs typeface="Noto Sans KR"/>
                        </a:rPr>
                        <a:t>1~16</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380000">
                <a:tc>
                  <a:txBody>
                    <a:bodyPr wrap="square"/>
                    <a:lstStyle/>
                    <a:p>
                      <a:pPr algn="ctr"/>
                      <a:r>
                        <a:rPr sz="1100" b="1" i="0" lang="ko-KR">
                          <a:solidFill>
                            <a:srgbClr val="222222"/>
                          </a:solidFill>
                          <a:latin typeface="Noto Sans KR"/>
                          <a:ea typeface="Noto Sans KR"/>
                          <a:cs typeface="Noto Sans KR"/>
                        </a:rPr>
                        <a:t>WP3</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00" b="0" i="0" lang="ko-KR">
                          <a:solidFill>
                            <a:srgbClr val="222222"/>
                          </a:solidFill>
                          <a:latin typeface="Noto Sans KR"/>
                          <a:ea typeface="Noto Sans KR"/>
                          <a:cs typeface="Noto Sans KR"/>
                        </a:rPr>
                        <a:t>제어기, 운전석 표시기, 관제 S/W, 경광·전광판 로직</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00" b="0" i="0" lang="ko-KR">
                          <a:solidFill>
                            <a:srgbClr val="222222"/>
                          </a:solidFill>
                          <a:latin typeface="Noto Sans KR"/>
                          <a:ea typeface="Noto Sans KR"/>
                          <a:cs typeface="Noto Sans KR"/>
                        </a:rPr>
                        <a:t>엠클라비스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100" b="0" i="0" lang="ko-KR">
                          <a:solidFill>
                            <a:srgbClr val="222222"/>
                          </a:solidFill>
                          <a:latin typeface="Noto Sans KR"/>
                          <a:ea typeface="Noto Sans KR"/>
                          <a:cs typeface="Noto Sans KR"/>
                        </a:rPr>
                        <a:t>3~18</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380000">
                <a:tc>
                  <a:txBody>
                    <a:bodyPr wrap="square"/>
                    <a:lstStyle/>
                    <a:p>
                      <a:pPr algn="ctr"/>
                      <a:r>
                        <a:rPr sz="1100" b="1" i="0" lang="ko-KR">
                          <a:solidFill>
                            <a:srgbClr val="222222"/>
                          </a:solidFill>
                          <a:latin typeface="Noto Sans KR"/>
                          <a:ea typeface="Noto Sans KR"/>
                          <a:cs typeface="Noto Sans KR"/>
                        </a:rPr>
                        <a:t>WP4</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00" b="0" i="0" lang="ko-KR">
                          <a:solidFill>
                            <a:srgbClr val="222222"/>
                          </a:solidFill>
                          <a:latin typeface="Noto Sans KR"/>
                          <a:ea typeface="Noto Sans KR"/>
                          <a:cs typeface="Noto Sans KR"/>
                        </a:rPr>
                        <a:t>인증·경찰 규격 시험, 현장 실증, 사업화 서류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100" b="0" i="0" lang="ko-KR">
                          <a:solidFill>
                            <a:srgbClr val="222222"/>
                          </a:solidFill>
                          <a:latin typeface="Noto Sans KR"/>
                          <a:ea typeface="Noto Sans KR"/>
                          <a:cs typeface="Noto Sans KR"/>
                        </a:rPr>
                        <a:t>엠클라비스 + 시험기관 + 경찰</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r>
                        <a:rPr sz="1100" b="0" i="0" lang="ko-KR">
                          <a:solidFill>
                            <a:srgbClr val="222222"/>
                          </a:solidFill>
                          <a:latin typeface="Noto Sans KR"/>
                          <a:ea typeface="Noto Sans KR"/>
                          <a:cs typeface="Noto Sans KR"/>
                        </a:rPr>
                        <a:t>10~24</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graphicFrame>
        <p:nvGraphicFramePr>
          <p:cNvPr id="5" name="Table 4"/>
          <p:cNvGraphicFramePr>
            <a:graphicFrameLocks noGrp="1"/>
          </p:cNvGraphicFramePr>
          <p:nvPr/>
        </p:nvGraphicFramePr>
        <p:xfrm>
          <a:off x="365760" y="3250000"/>
          <a:ext cx="11460480" cy="2790000"/>
        </p:xfrm>
        <a:graphic>
          <a:graphicData uri="http://schemas.openxmlformats.org/drawingml/2006/table">
            <a:tbl>
              <a:tblPr/>
              <a:tblGrid>
                <a:gridCol w="4260480"/>
                <a:gridCol w="900000"/>
                <a:gridCol w="900000"/>
                <a:gridCol w="900000"/>
                <a:gridCol w="900000"/>
                <a:gridCol w="900000"/>
                <a:gridCol w="900000"/>
                <a:gridCol w="900000"/>
                <a:gridCol w="900000"/>
              </a:tblGrid>
              <a:tr h="310000">
                <a:tc>
                  <a:txBody>
                    <a:bodyPr wrap="square"/>
                    <a:lstStyle/>
                    <a:p>
                      <a:r>
                        <a:rPr sz="1000" b="1" i="0" lang="ko-KR">
                          <a:solidFill>
                            <a:srgbClr val="FFFFFF"/>
                          </a:solidFill>
                          <a:latin typeface="Noto Sans KR"/>
                          <a:ea typeface="Noto Sans KR"/>
                          <a:cs typeface="Noto Sans KR"/>
                        </a:rPr>
                        <a:t>구분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000" b="1" i="0" lang="ko-KR">
                          <a:solidFill>
                            <a:srgbClr val="FFFFFF"/>
                          </a:solidFill>
                          <a:latin typeface="Noto Sans KR"/>
                          <a:ea typeface="Noto Sans KR"/>
                          <a:cs typeface="Noto Sans KR"/>
                        </a:rPr>
                        <a:t>1Q</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000" b="1" i="0" lang="ko-KR">
                          <a:solidFill>
                            <a:srgbClr val="FFFFFF"/>
                          </a:solidFill>
                          <a:latin typeface="Noto Sans KR"/>
                          <a:ea typeface="Noto Sans KR"/>
                          <a:cs typeface="Noto Sans KR"/>
                        </a:rPr>
                        <a:t>2Q</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000" b="1" i="0" lang="ko-KR">
                          <a:solidFill>
                            <a:srgbClr val="FFFFFF"/>
                          </a:solidFill>
                          <a:latin typeface="Noto Sans KR"/>
                          <a:ea typeface="Noto Sans KR"/>
                          <a:cs typeface="Noto Sans KR"/>
                        </a:rPr>
                        <a:t>3Q</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000" b="1" i="0" lang="ko-KR">
                          <a:solidFill>
                            <a:srgbClr val="FFFFFF"/>
                          </a:solidFill>
                          <a:latin typeface="Noto Sans KR"/>
                          <a:ea typeface="Noto Sans KR"/>
                          <a:cs typeface="Noto Sans KR"/>
                        </a:rPr>
                        <a:t>4Q</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000" b="1" i="0" lang="ko-KR">
                          <a:solidFill>
                            <a:srgbClr val="FFFFFF"/>
                          </a:solidFill>
                          <a:latin typeface="Noto Sans KR"/>
                          <a:ea typeface="Noto Sans KR"/>
                          <a:cs typeface="Noto Sans KR"/>
                        </a:rPr>
                        <a:t>5Q</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000" b="1" i="0" lang="ko-KR">
                          <a:solidFill>
                            <a:srgbClr val="FFFFFF"/>
                          </a:solidFill>
                          <a:latin typeface="Noto Sans KR"/>
                          <a:ea typeface="Noto Sans KR"/>
                          <a:cs typeface="Noto Sans KR"/>
                        </a:rPr>
                        <a:t>6Q</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000" b="1" i="0" lang="ko-KR">
                          <a:solidFill>
                            <a:srgbClr val="FFFFFF"/>
                          </a:solidFill>
                          <a:latin typeface="Noto Sans KR"/>
                          <a:ea typeface="Noto Sans KR"/>
                          <a:cs typeface="Noto Sans KR"/>
                        </a:rPr>
                        <a:t>7Q</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pPr algn="ctr"/>
                      <a:r>
                        <a:rPr sz="1000" b="1" i="0" lang="ko-KR">
                          <a:solidFill>
                            <a:srgbClr val="FFFFFF"/>
                          </a:solidFill>
                          <a:latin typeface="Noto Sans KR"/>
                          <a:ea typeface="Noto Sans KR"/>
                          <a:cs typeface="Noto Sans KR"/>
                        </a:rPr>
                        <a:t>8Q</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310000">
                <a:tc>
                  <a:txBody>
                    <a:bodyPr wrap="square"/>
                    <a:lstStyle/>
                    <a:p>
                      <a:r>
                        <a:rPr sz="1000" b="0" i="0" lang="ko-KR">
                          <a:solidFill>
                            <a:srgbClr val="222222"/>
                          </a:solidFill>
                          <a:latin typeface="Noto Sans KR"/>
                          <a:ea typeface="Noto Sans KR"/>
                          <a:cs typeface="Noto Sans KR"/>
                        </a:rPr>
                        <a:t>개념 시제품, 요구사항, 특허 FTO</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310000">
                <a:tc>
                  <a:txBody>
                    <a:bodyPr wrap="square"/>
                    <a:lstStyle/>
                    <a:p>
                      <a:r>
                        <a:rPr sz="1000" b="0" i="0" lang="ko-KR">
                          <a:solidFill>
                            <a:srgbClr val="222222"/>
                          </a:solidFill>
                          <a:latin typeface="Noto Sans KR"/>
                          <a:ea typeface="Noto Sans KR"/>
                          <a:cs typeface="Noto Sans KR"/>
                        </a:rPr>
                        <a:t>WP1 신호처리 알고리즘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310000">
                <a:tc>
                  <a:txBody>
                    <a:bodyPr wrap="square"/>
                    <a:lstStyle/>
                    <a:p>
                      <a:r>
                        <a:rPr sz="1000" b="0" i="0" lang="ko-KR">
                          <a:solidFill>
                            <a:srgbClr val="222222"/>
                          </a:solidFill>
                          <a:latin typeface="Noto Sans KR"/>
                          <a:ea typeface="Noto Sans KR"/>
                          <a:cs typeface="Noto Sans KR"/>
                        </a:rPr>
                        <a:t>WP2 하우징·EMI 설계, 시제품 3대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310000">
                <a:tc>
                  <a:txBody>
                    <a:bodyPr wrap="square"/>
                    <a:lstStyle/>
                    <a:p>
                      <a:r>
                        <a:rPr sz="1000" b="0" i="0" lang="ko-KR">
                          <a:solidFill>
                            <a:srgbClr val="222222"/>
                          </a:solidFill>
                          <a:latin typeface="Noto Sans KR"/>
                          <a:ea typeface="Noto Sans KR"/>
                          <a:cs typeface="Noto Sans KR"/>
                        </a:rPr>
                        <a:t>WP3 제어기·관제 S/W</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310000">
                <a:tc>
                  <a:txBody>
                    <a:bodyPr wrap="square"/>
                    <a:lstStyle/>
                    <a:p>
                      <a:r>
                        <a:rPr sz="1000" b="0" i="0" lang="ko-KR">
                          <a:solidFill>
                            <a:srgbClr val="222222"/>
                          </a:solidFill>
                          <a:latin typeface="Noto Sans KR"/>
                          <a:ea typeface="Noto Sans KR"/>
                          <a:cs typeface="Noto Sans KR"/>
                        </a:rPr>
                        <a:t>1차년도 성능 검증(TRL 6), 특허 출원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310000">
                <a:tc>
                  <a:txBody>
                    <a:bodyPr wrap="square"/>
                    <a:lstStyle/>
                    <a:p>
                      <a:r>
                        <a:rPr sz="1000" b="0" i="0" lang="ko-KR">
                          <a:solidFill>
                            <a:srgbClr val="222222"/>
                          </a:solidFill>
                          <a:latin typeface="Noto Sans KR"/>
                          <a:ea typeface="Noto Sans KR"/>
                          <a:cs typeface="Noto Sans KR"/>
                        </a:rPr>
                        <a:t>시제품 10대, 인증·규격 시험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310000">
                <a:tc>
                  <a:txBody>
                    <a:bodyPr wrap="square"/>
                    <a:lstStyle/>
                    <a:p>
                      <a:r>
                        <a:rPr sz="1000" b="0" i="0" lang="ko-KR">
                          <a:solidFill>
                            <a:srgbClr val="222222"/>
                          </a:solidFill>
                          <a:latin typeface="Noto Sans KR"/>
                          <a:ea typeface="Noto Sans KR"/>
                          <a:cs typeface="Noto Sans KR"/>
                        </a:rPr>
                        <a:t>현장 실증 10대, 3개월 이상</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310000">
                <a:tc>
                  <a:txBody>
                    <a:bodyPr wrap="square"/>
                    <a:lstStyle/>
                    <a:p>
                      <a:r>
                        <a:rPr sz="1000" b="0" i="0" lang="ko-KR">
                          <a:solidFill>
                            <a:srgbClr val="222222"/>
                          </a:solidFill>
                          <a:latin typeface="Noto Sans KR"/>
                          <a:ea typeface="Noto Sans KR"/>
                          <a:cs typeface="Noto Sans KR"/>
                        </a:rPr>
                        <a:t>개선·최종 평가, 혁신제품 서류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c>
                  <a:txBody>
                    <a:bodyPr wrap="square"/>
                    <a:lstStyle/>
                    <a:p>
                      <a:pPr algn="ct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2E75B6"/>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성과지표 11개: 성능과 경찰관 선호도를 함께 본다</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주행 중 성능은 신규 목표라 개념 시제품 실측으로 먼저 검증한다</a:t>
            </a:r>
          </a:p>
        </p:txBody>
      </p:sp>
      <p:graphicFrame>
        <p:nvGraphicFramePr>
          <p:cNvPr id="4" name="Table 3"/>
          <p:cNvGraphicFramePr>
            <a:graphicFrameLocks noGrp="1"/>
          </p:cNvGraphicFramePr>
          <p:nvPr/>
        </p:nvGraphicFramePr>
        <p:xfrm>
          <a:off x="365760" y="1200000"/>
          <a:ext cx="11460480" cy="4920000"/>
        </p:xfrm>
        <a:graphic>
          <a:graphicData uri="http://schemas.openxmlformats.org/drawingml/2006/table">
            <a:tbl>
              <a:tblPr/>
              <a:tblGrid>
                <a:gridCol w="800000"/>
                <a:gridCol w="4300000"/>
                <a:gridCol w="3500000"/>
                <a:gridCol w="2860480"/>
              </a:tblGrid>
              <a:tr h="410000">
                <a:tc>
                  <a:txBody>
                    <a:bodyPr wrap="square"/>
                    <a:lstStyle/>
                    <a:p>
                      <a:pPr algn="ctr"/>
                      <a:r>
                        <a:rPr sz="1200" b="1" i="0" lang="ko-KR">
                          <a:solidFill>
                            <a:srgbClr val="FFFFFF"/>
                          </a:solidFill>
                          <a:latin typeface="Noto Sans KR"/>
                          <a:ea typeface="Noto Sans KR"/>
                          <a:cs typeface="Noto Sans KR"/>
                        </a:rPr>
                        <a:t>번호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00" b="1" i="0" lang="ko-KR">
                          <a:solidFill>
                            <a:srgbClr val="FFFFFF"/>
                          </a:solidFill>
                          <a:latin typeface="Noto Sans KR"/>
                          <a:ea typeface="Noto Sans KR"/>
                          <a:cs typeface="Noto Sans KR"/>
                        </a:rPr>
                        <a:t>평가항목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00" b="1" i="0" lang="ko-KR">
                          <a:solidFill>
                            <a:srgbClr val="FFFFFF"/>
                          </a:solidFill>
                          <a:latin typeface="Noto Sans KR"/>
                          <a:ea typeface="Noto Sans KR"/>
                          <a:cs typeface="Noto Sans KR"/>
                        </a:rPr>
                        <a:t>목표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00" b="1" i="0" lang="ko-KR">
                          <a:solidFill>
                            <a:srgbClr val="FFFFFF"/>
                          </a:solidFill>
                          <a:latin typeface="Noto Sans KR"/>
                          <a:ea typeface="Noto Sans KR"/>
                          <a:cs typeface="Noto Sans KR"/>
                        </a:rPr>
                        <a:t>측정 방법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410000">
                <a:tc>
                  <a:txBody>
                    <a:bodyPr wrap="square"/>
                    <a:lstStyle/>
                    <a:p>
                      <a:pPr algn="ctr"/>
                      <a:r>
                        <a:rPr sz="1200" b="0" i="0" lang="ko-KR">
                          <a:solidFill>
                            <a:srgbClr val="222222"/>
                          </a:solidFill>
                          <a:latin typeface="Noto Sans KR"/>
                          <a:ea typeface="Noto Sans KR"/>
                          <a:cs typeface="Noto Sans KR"/>
                        </a:rPr>
                        <a:t>1</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속도 측정 오차(정지)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±1km/h 이하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공인시험기관 기준 차량 시험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410000">
                <a:tc>
                  <a:txBody>
                    <a:bodyPr wrap="square"/>
                    <a:lstStyle/>
                    <a:p>
                      <a:pPr algn="ctr"/>
                      <a:r>
                        <a:rPr sz="1200" b="0" i="0" lang="ko-KR">
                          <a:solidFill>
                            <a:srgbClr val="222222"/>
                          </a:solidFill>
                          <a:latin typeface="Noto Sans KR"/>
                          <a:ea typeface="Noto Sans KR"/>
                          <a:cs typeface="Noto Sans KR"/>
                        </a:rPr>
                        <a:t>2</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속도 측정 오차(주행 60~120km/h)</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±3% 이내</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GPS 기준 차량과 비교 시험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410000">
                <a:tc>
                  <a:txBody>
                    <a:bodyPr wrap="square"/>
                    <a:lstStyle/>
                    <a:p>
                      <a:pPr algn="ctr"/>
                      <a:r>
                        <a:rPr sz="1200" b="0" i="0" lang="ko-KR">
                          <a:solidFill>
                            <a:srgbClr val="222222"/>
                          </a:solidFill>
                          <a:latin typeface="Noto Sans KR"/>
                          <a:ea typeface="Noto Sans KR"/>
                          <a:cs typeface="Noto Sans KR"/>
                        </a:rPr>
                        <a:t>3</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후방 접근차량 검지거리</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80m</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실도로 시험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410000">
                <a:tc>
                  <a:txBody>
                    <a:bodyPr wrap="square"/>
                    <a:lstStyle/>
                    <a:p>
                      <a:pPr algn="ctr"/>
                      <a:r>
                        <a:rPr sz="1200" b="0" i="0" lang="ko-KR">
                          <a:solidFill>
                            <a:srgbClr val="222222"/>
                          </a:solidFill>
                          <a:latin typeface="Noto Sans KR"/>
                          <a:ea typeface="Noto Sans KR"/>
                          <a:cs typeface="Noto Sans KR"/>
                        </a:rPr>
                        <a:t>4</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후방 접근 경보 검지율</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95% 이상</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실도로 100회 이상 접근 시험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410000">
                <a:tc>
                  <a:txBody>
                    <a:bodyPr wrap="square"/>
                    <a:lstStyle/>
                    <a:p>
                      <a:pPr algn="ctr"/>
                      <a:r>
                        <a:rPr sz="1200" b="0" i="0" lang="ko-KR">
                          <a:solidFill>
                            <a:srgbClr val="222222"/>
                          </a:solidFill>
                          <a:latin typeface="Noto Sans KR"/>
                          <a:ea typeface="Noto Sans KR"/>
                          <a:cs typeface="Noto Sans KR"/>
                        </a:rPr>
                        <a:t>5</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경보 반응 시간(검지→경광 전환)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0.5초 이하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시험 장비 계측</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410000">
                <a:tc>
                  <a:txBody>
                    <a:bodyPr wrap="square"/>
                    <a:lstStyle/>
                    <a:p>
                      <a:pPr algn="ctr"/>
                      <a:r>
                        <a:rPr sz="1200" b="0" i="0" lang="ko-KR">
                          <a:solidFill>
                            <a:srgbClr val="222222"/>
                          </a:solidFill>
                          <a:latin typeface="Noto Sans KR"/>
                          <a:ea typeface="Noto Sans KR"/>
                          <a:cs typeface="Noto Sans KR"/>
                        </a:rPr>
                        <a:t>6</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레이더·제어기 소비전력</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60W 이하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시험 성적서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410000">
                <a:tc>
                  <a:txBody>
                    <a:bodyPr wrap="square"/>
                    <a:lstStyle/>
                    <a:p>
                      <a:pPr algn="ctr"/>
                      <a:r>
                        <a:rPr sz="1200" b="0" i="0" lang="ko-KR">
                          <a:solidFill>
                            <a:srgbClr val="222222"/>
                          </a:solidFill>
                          <a:latin typeface="Noto Sans KR"/>
                          <a:ea typeface="Noto Sans KR"/>
                          <a:cs typeface="Noto Sans KR"/>
                        </a:rPr>
                        <a:t>7</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일체형 장비 중량(경광 포함)</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25kg 이하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시험 성적서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410000">
                <a:tc>
                  <a:txBody>
                    <a:bodyPr wrap="square"/>
                    <a:lstStyle/>
                    <a:p>
                      <a:pPr algn="ctr"/>
                      <a:r>
                        <a:rPr sz="1200" b="0" i="0" lang="ko-KR">
                          <a:solidFill>
                            <a:srgbClr val="222222"/>
                          </a:solidFill>
                          <a:latin typeface="Noto Sans KR"/>
                          <a:ea typeface="Noto Sans KR"/>
                          <a:cs typeface="Noto Sans KR"/>
                        </a:rPr>
                        <a:t>8</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환경 조건</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IP67, -30~+65℃</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인증 시험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410000">
                <a:tc>
                  <a:txBody>
                    <a:bodyPr wrap="square"/>
                    <a:lstStyle/>
                    <a:p>
                      <a:pPr algn="ctr"/>
                      <a:r>
                        <a:rPr sz="1200" b="0" i="0" lang="ko-KR">
                          <a:solidFill>
                            <a:srgbClr val="222222"/>
                          </a:solidFill>
                          <a:latin typeface="Noto Sans KR"/>
                          <a:ea typeface="Noto Sans KR"/>
                          <a:cs typeface="Noto Sans KR"/>
                        </a:rPr>
                        <a:t>9</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현장 실증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10대, 3개월 이상, 만족도 4.0/5 이상</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실증 보고서, 설문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410000">
                <a:tc>
                  <a:txBody>
                    <a:bodyPr wrap="square"/>
                    <a:lstStyle/>
                    <a:p>
                      <a:pPr algn="ctr"/>
                      <a:r>
                        <a:rPr sz="1200" b="0" i="0" lang="ko-KR">
                          <a:solidFill>
                            <a:srgbClr val="222222"/>
                          </a:solidFill>
                          <a:latin typeface="Noto Sans KR"/>
                          <a:ea typeface="Noto Sans KR"/>
                          <a:cs typeface="Noto Sans KR"/>
                        </a:rPr>
                        <a:t>10</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지식재산권</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출원 2건, 등록 1건</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출원·등록 증빙</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410000">
                <a:tc>
                  <a:txBody>
                    <a:bodyPr wrap="square"/>
                    <a:lstStyle/>
                    <a:p>
                      <a:pPr algn="ctr"/>
                      <a:r>
                        <a:rPr sz="1200" b="0" i="0" lang="ko-KR">
                          <a:solidFill>
                            <a:srgbClr val="222222"/>
                          </a:solidFill>
                          <a:latin typeface="Noto Sans KR"/>
                          <a:ea typeface="Noto Sans KR"/>
                          <a:cs typeface="Noto Sans KR"/>
                        </a:rPr>
                        <a:t>11</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경찰관 선호도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재장착 희망 80% 이상, 유용성 4.0/5 이상</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장착 전·후 설문, 경보 끄기 로그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선호도 검증 계획과 우려 대응</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현장에서 외면받지 않도록 오경보와 조작 부담을 설계 단계에서 푼다</a:t>
            </a:r>
          </a:p>
        </p:txBody>
      </p:sp>
      <p:sp>
        <p:nvSpPr>
          <p:cNvPr id="4" name="Rounded Rectangle 3"/>
          <p:cNvSpPr/>
          <p:nvPr/>
        </p:nvSpPr>
        <p:spPr>
          <a:xfrm>
            <a:off x="365760" y="1200000"/>
            <a:ext cx="5300000" cy="16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5760" y="1320000"/>
            <a:ext cx="4900000" cy="1400000"/>
          </a:xfrm>
          <a:prstGeom prst="rect">
            <a:avLst/>
          </a:prstGeom>
          <a:noFill/>
        </p:spPr>
        <p:txBody>
          <a:bodyPr wrap="square" lIns="0" rIns="0" tIns="0" bIns="0" anchor="t">
            <a:noAutofit/>
          </a:bodyPr>
          <a:lstStyle/>
          <a:p>
            <a:pPr>
              <a:spcAft>
                <a:spcPts val="300"/>
              </a:spcAft>
            </a:pPr>
            <a:r>
              <a:rPr sz="1600" b="1" i="0" lang="ko-KR">
                <a:solidFill>
                  <a:srgbClr val="1F3A93"/>
                </a:solidFill>
                <a:latin typeface="Noto Sans KR"/>
                <a:ea typeface="Noto Sans KR"/>
                <a:cs typeface="Noto Sans KR"/>
              </a:rPr>
              <a:t>사전 인터뷰 (0단계)</a:t>
            </a:r>
          </a:p>
          <a:p>
            <a:pPr>
              <a:spcAft>
                <a:spcPts val="400"/>
              </a:spcAft>
            </a:pPr>
            <a:r>
              <a:rPr sz="1300" b="0" i="0" lang="ko-KR">
                <a:solidFill>
                  <a:srgbClr val="222222"/>
                </a:solidFill>
                <a:latin typeface="Noto Sans KR"/>
                <a:ea typeface="Noto Sans KR"/>
                <a:cs typeface="Noto Sans KR"/>
              </a:rPr>
              <a:t>고속도로순찰대·교통순찰 경찰관 10~20명에게 사고 처리 중 위험 경험, 현재 경광등 불만, 후방 경보 기대를 묻는다.</a:t>
            </a:r>
          </a:p>
        </p:txBody>
      </p:sp>
      <p:sp>
        <p:nvSpPr>
          <p:cNvPr id="6" name="Rounded Rectangle 5"/>
          <p:cNvSpPr/>
          <p:nvPr/>
        </p:nvSpPr>
        <p:spPr>
          <a:xfrm>
            <a:off x="365760" y="2900000"/>
            <a:ext cx="5300000" cy="16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5760" y="3020000"/>
            <a:ext cx="4900000" cy="1400000"/>
          </a:xfrm>
          <a:prstGeom prst="rect">
            <a:avLst/>
          </a:prstGeom>
          <a:noFill/>
        </p:spPr>
        <p:txBody>
          <a:bodyPr wrap="square" lIns="0" rIns="0" tIns="0" bIns="0" anchor="t">
            <a:noAutofit/>
          </a:bodyPr>
          <a:lstStyle/>
          <a:p>
            <a:pPr>
              <a:spcAft>
                <a:spcPts val="300"/>
              </a:spcAft>
            </a:pPr>
            <a:r>
              <a:rPr sz="1600" b="1" i="0" lang="ko-KR">
                <a:solidFill>
                  <a:srgbClr val="1F3A93"/>
                </a:solidFill>
                <a:latin typeface="Noto Sans KR"/>
                <a:ea typeface="Noto Sans KR"/>
                <a:cs typeface="Noto Sans KR"/>
              </a:rPr>
              <a:t>실증 설문 (2차년도)</a:t>
            </a:r>
          </a:p>
          <a:p>
            <a:pPr>
              <a:spcAft>
                <a:spcPts val="400"/>
              </a:spcAft>
            </a:pPr>
            <a:r>
              <a:rPr sz="1300" b="0" i="0" lang="ko-KR">
                <a:solidFill>
                  <a:srgbClr val="222222"/>
                </a:solidFill>
                <a:latin typeface="Noto Sans KR"/>
                <a:ea typeface="Noto Sans KR"/>
                <a:cs typeface="Noto Sans KR"/>
              </a:rPr>
              <a:t>장착 전·후 설문: 경보 유용성, 오경보 체감, 조작 부담, 안전하다고 느끼는 정도, 계속 장착 희망.</a:t>
            </a:r>
          </a:p>
        </p:txBody>
      </p:sp>
      <p:sp>
        <p:nvSpPr>
          <p:cNvPr id="8" name="Rounded Rectangle 7"/>
          <p:cNvSpPr/>
          <p:nvPr/>
        </p:nvSpPr>
        <p:spPr>
          <a:xfrm>
            <a:off x="365760" y="4600000"/>
            <a:ext cx="5300000" cy="1600000"/>
          </a:xfrm>
          <a:prstGeom prst="roundRect">
            <a:avLst>
              <a:gd name="adj" fmla="val 4000"/>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5760" y="4720000"/>
            <a:ext cx="4900000" cy="1400000"/>
          </a:xfrm>
          <a:prstGeom prst="rect">
            <a:avLst/>
          </a:prstGeom>
          <a:noFill/>
        </p:spPr>
        <p:txBody>
          <a:bodyPr wrap="square" lIns="0" rIns="0" tIns="0" bIns="0" anchor="t">
            <a:noAutofit/>
          </a:bodyPr>
          <a:lstStyle/>
          <a:p>
            <a:pPr>
              <a:spcAft>
                <a:spcPts val="300"/>
              </a:spcAft>
            </a:pPr>
            <a:r>
              <a:rPr sz="1600" b="1" i="0" lang="ko-KR">
                <a:solidFill>
                  <a:srgbClr val="1F3A93"/>
                </a:solidFill>
                <a:latin typeface="Noto Sans KR"/>
                <a:ea typeface="Noto Sans KR"/>
                <a:cs typeface="Noto Sans KR"/>
              </a:rPr>
              <a:t>로그 지표</a:t>
            </a:r>
          </a:p>
          <a:p>
            <a:pPr>
              <a:spcAft>
                <a:spcPts val="400"/>
              </a:spcAft>
            </a:pPr>
            <a:r>
              <a:rPr sz="1300" b="0" i="0" lang="ko-KR">
                <a:solidFill>
                  <a:srgbClr val="222222"/>
                </a:solidFill>
                <a:latin typeface="Noto Sans KR"/>
                <a:ea typeface="Noto Sans KR"/>
                <a:cs typeface="Noto Sans KR"/>
              </a:rPr>
              <a:t>경보 발생 횟수, 경찰관이 경보를 끈 횟수, 접근 차량 최대 속도 분포를 자동 기록한다.</a:t>
            </a:r>
          </a:p>
        </p:txBody>
      </p:sp>
      <p:graphicFrame>
        <p:nvGraphicFramePr>
          <p:cNvPr id="10" name="Table 9"/>
          <p:cNvGraphicFramePr>
            <a:graphicFrameLocks noGrp="1"/>
          </p:cNvGraphicFramePr>
          <p:nvPr/>
        </p:nvGraphicFramePr>
        <p:xfrm>
          <a:off x="5950000" y="1200000"/>
          <a:ext cx="5876240" cy="4480000"/>
        </p:xfrm>
        <a:graphic>
          <a:graphicData uri="http://schemas.openxmlformats.org/drawingml/2006/table">
            <a:tbl>
              <a:tblPr/>
              <a:tblGrid>
                <a:gridCol w="2500000"/>
                <a:gridCol w="3376240"/>
              </a:tblGrid>
              <a:tr h="640000">
                <a:tc>
                  <a:txBody>
                    <a:bodyPr wrap="square"/>
                    <a:lstStyle/>
                    <a:p>
                      <a:r>
                        <a:rPr sz="1200" b="1" i="0" lang="ko-KR">
                          <a:solidFill>
                            <a:srgbClr val="FFFFFF"/>
                          </a:solidFill>
                          <a:latin typeface="Noto Sans KR"/>
                          <a:ea typeface="Noto Sans KR"/>
                          <a:cs typeface="Noto Sans KR"/>
                        </a:rPr>
                        <a:t>우려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00" b="1" i="0" lang="ko-KR">
                          <a:solidFill>
                            <a:srgbClr val="FFFFFF"/>
                          </a:solidFill>
                          <a:latin typeface="Noto Sans KR"/>
                          <a:ea typeface="Noto Sans KR"/>
                          <a:cs typeface="Noto Sans KR"/>
                        </a:rPr>
                        <a:t>대응</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640000">
                <a:tc>
                  <a:txBody>
                    <a:bodyPr wrap="square"/>
                    <a:lstStyle/>
                    <a:p>
                      <a:r>
                        <a:rPr sz="1200" b="0" i="0" lang="ko-KR">
                          <a:solidFill>
                            <a:srgbClr val="222222"/>
                          </a:solidFill>
                          <a:latin typeface="Noto Sans KR"/>
                          <a:ea typeface="Noto Sans KR"/>
                          <a:cs typeface="Noto Sans KR"/>
                        </a:rPr>
                        <a:t>오경보가 잦으면 끄고 쓰지 않는다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오경보율을 성과지표로 두고 임계값을 경찰관이 조정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0" i="0" lang="ko-KR">
                          <a:solidFill>
                            <a:srgbClr val="222222"/>
                          </a:solidFill>
                          <a:latin typeface="Noto Sans KR"/>
                          <a:ea typeface="Noto Sans KR"/>
                          <a:cs typeface="Noto Sans KR"/>
                        </a:rPr>
                        <a:t>조작이 번거롭다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자동 전환 기본, 기존 리프트 경광등 조작 방식과 맞춤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0" i="0" lang="ko-KR">
                          <a:solidFill>
                            <a:srgbClr val="222222"/>
                          </a:solidFill>
                          <a:latin typeface="Noto Sans KR"/>
                          <a:ea typeface="Noto Sans KR"/>
                          <a:cs typeface="Noto Sans KR"/>
                        </a:rPr>
                        <a:t>단속 기능이 추가 업무가 된다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T2는 알림까지만, 증거·고지는 T3와 TCS에서 처리</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0" i="0" lang="ko-KR">
                          <a:solidFill>
                            <a:srgbClr val="222222"/>
                          </a:solidFill>
                          <a:latin typeface="Noto Sans KR"/>
                          <a:ea typeface="Noto Sans KR"/>
                          <a:cs typeface="Noto Sans KR"/>
                        </a:rPr>
                        <a:t>무겁고 전력을 많이 쓴다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25kg·60W 이하 목표, 전기차 12V 대응</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0" i="0" lang="ko-KR">
                          <a:solidFill>
                            <a:srgbClr val="222222"/>
                          </a:solidFill>
                          <a:latin typeface="Noto Sans KR"/>
                          <a:ea typeface="Noto Sans KR"/>
                          <a:cs typeface="Noto Sans KR"/>
                        </a:rPr>
                        <a:t>고장 나면 경광등까지 멈춘다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레이더 고장 시에도 경광·사이렌 독립 동작</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0" i="0" lang="ko-KR">
                          <a:solidFill>
                            <a:srgbClr val="222222"/>
                          </a:solidFill>
                          <a:latin typeface="Noto Sans KR"/>
                          <a:ea typeface="Noto Sans KR"/>
                          <a:cs typeface="Noto Sans KR"/>
                        </a:rPr>
                        <a:t>가격이 오른다</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경광등·레이더·단속장비 대체 총비용 비교 자료 준비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리스크와 향후 90일 실행 항목</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수요처 확보와 특장 구조 우회가 가장 큰 위험이다</a:t>
            </a:r>
          </a:p>
        </p:txBody>
      </p:sp>
      <p:graphicFrame>
        <p:nvGraphicFramePr>
          <p:cNvPr id="4" name="Table 3"/>
          <p:cNvGraphicFramePr>
            <a:graphicFrameLocks noGrp="1"/>
          </p:cNvGraphicFramePr>
          <p:nvPr/>
        </p:nvGraphicFramePr>
        <p:xfrm>
          <a:off x="365760" y="1200000"/>
          <a:ext cx="5700000" cy="4200000"/>
        </p:xfrm>
        <a:graphic>
          <a:graphicData uri="http://schemas.openxmlformats.org/drawingml/2006/table">
            <a:tbl>
              <a:tblPr/>
              <a:tblGrid>
                <a:gridCol w="2200000"/>
                <a:gridCol w="3500000"/>
              </a:tblGrid>
              <a:tr h="700000">
                <a:tc>
                  <a:txBody>
                    <a:bodyPr wrap="square"/>
                    <a:lstStyle/>
                    <a:p>
                      <a:r>
                        <a:rPr sz="1200" b="1" i="0" lang="ko-KR">
                          <a:solidFill>
                            <a:srgbClr val="FFFFFF"/>
                          </a:solidFill>
                          <a:latin typeface="Noto Sans KR"/>
                          <a:ea typeface="Noto Sans KR"/>
                          <a:cs typeface="Noto Sans KR"/>
                        </a:rPr>
                        <a:t>리스크</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00" b="1" i="0" lang="ko-KR">
                          <a:solidFill>
                            <a:srgbClr val="FFFFFF"/>
                          </a:solidFill>
                          <a:latin typeface="Noto Sans KR"/>
                          <a:ea typeface="Noto Sans KR"/>
                          <a:cs typeface="Noto Sans KR"/>
                        </a:rPr>
                        <a:t>대응</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700000">
                <a:tc>
                  <a:txBody>
                    <a:bodyPr wrap="square"/>
                    <a:lstStyle/>
                    <a:p>
                      <a:r>
                        <a:rPr sz="1200" b="1" i="0" lang="ko-KR">
                          <a:solidFill>
                            <a:srgbClr val="222222"/>
                          </a:solidFill>
                          <a:latin typeface="Noto Sans KR"/>
                          <a:ea typeface="Noto Sans KR"/>
                          <a:cs typeface="Noto Sans KR"/>
                        </a:rPr>
                        <a:t>수요처 구매동의서를 못 받음</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특장업체·완성차로 대체, 수요 불요 과제(폴리스랩, 시장대응형) 병행</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700000">
                <a:tc>
                  <a:txBody>
                    <a:bodyPr wrap="square"/>
                    <a:lstStyle/>
                    <a:p>
                      <a:r>
                        <a:rPr sz="1200" b="1" i="0" lang="ko-KR">
                          <a:solidFill>
                            <a:srgbClr val="222222"/>
                          </a:solidFill>
                          <a:latin typeface="Noto Sans KR"/>
                          <a:ea typeface="Noto Sans KR"/>
                          <a:cs typeface="Noto Sans KR"/>
                        </a:rPr>
                        <a:t>특장 패키지가 단품 분리를 막음</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혁신제품 수의계약, 교통단속장비 예산으로 우회</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700000">
                <a:tc>
                  <a:txBody>
                    <a:bodyPr wrap="square"/>
                    <a:lstStyle/>
                    <a:p>
                      <a:r>
                        <a:rPr sz="1200" b="1" i="0" lang="ko-KR">
                          <a:solidFill>
                            <a:srgbClr val="222222"/>
                          </a:solidFill>
                          <a:latin typeface="Noto Sans KR"/>
                          <a:ea typeface="Noto Sans KR"/>
                          <a:cs typeface="Noto Sans KR"/>
                        </a:rPr>
                        <a:t>해외 특허 저촉</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착수 전 FTO, 번호판·얼굴 인식 미포함 유지</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700000">
                <a:tc>
                  <a:txBody>
                    <a:bodyPr wrap="square"/>
                    <a:lstStyle/>
                    <a:p>
                      <a:r>
                        <a:rPr sz="1200" b="1" i="0" lang="ko-KR">
                          <a:solidFill>
                            <a:srgbClr val="222222"/>
                          </a:solidFill>
                          <a:latin typeface="Noto Sans KR"/>
                          <a:ea typeface="Noto Sans KR"/>
                          <a:cs typeface="Noto Sans KR"/>
                        </a:rPr>
                        <a:t>주행 정확도·EMI 목표 미달</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개념 시제품 조기 검증, 대안 구조 준비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700000">
                <a:tc>
                  <a:txBody>
                    <a:bodyPr wrap="square"/>
                    <a:lstStyle/>
                    <a:p>
                      <a:r>
                        <a:rPr sz="1200" b="1" i="0" lang="ko-KR">
                          <a:solidFill>
                            <a:srgbClr val="222222"/>
                          </a:solidFill>
                          <a:latin typeface="Noto Sans KR"/>
                          <a:ea typeface="Noto Sans KR"/>
                          <a:cs typeface="Noto Sans KR"/>
                        </a:rPr>
                        <a:t>과제 탈락</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2건 이상 병행, 자부담 범위 내 T2 최소 시제품 자체 진행</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graphicFrame>
        <p:nvGraphicFramePr>
          <p:cNvPr id="5" name="Table 4"/>
          <p:cNvGraphicFramePr>
            <a:graphicFrameLocks noGrp="1"/>
          </p:cNvGraphicFramePr>
          <p:nvPr/>
        </p:nvGraphicFramePr>
        <p:xfrm>
          <a:off x="6400000" y="1200000"/>
          <a:ext cx="5426240" cy="4480000"/>
        </p:xfrm>
        <a:graphic>
          <a:graphicData uri="http://schemas.openxmlformats.org/drawingml/2006/table">
            <a:tbl>
              <a:tblPr/>
              <a:tblGrid>
                <a:gridCol w="1500000"/>
                <a:gridCol w="3926240"/>
              </a:tblGrid>
              <a:tr h="640000">
                <a:tc>
                  <a:txBody>
                    <a:bodyPr wrap="square"/>
                    <a:lstStyle/>
                    <a:p>
                      <a:r>
                        <a:rPr sz="1200" b="1" i="0" lang="ko-KR">
                          <a:solidFill>
                            <a:srgbClr val="FFFFFF"/>
                          </a:solidFill>
                          <a:latin typeface="Noto Sans KR"/>
                          <a:ea typeface="Noto Sans KR"/>
                          <a:cs typeface="Noto Sans KR"/>
                        </a:rPr>
                        <a:t>기한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00" b="1" i="0" lang="ko-KR">
                          <a:solidFill>
                            <a:srgbClr val="FFFFFF"/>
                          </a:solidFill>
                          <a:latin typeface="Noto Sans KR"/>
                          <a:ea typeface="Noto Sans KR"/>
                          <a:cs typeface="Noto Sans KR"/>
                        </a:rPr>
                        <a:t>실행 항목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640000">
                <a:tc>
                  <a:txBody>
                    <a:bodyPr wrap="square"/>
                    <a:lstStyle/>
                    <a:p>
                      <a:r>
                        <a:rPr sz="1200" b="1" i="0" lang="ko-KR">
                          <a:solidFill>
                            <a:srgbClr val="222222"/>
                          </a:solidFill>
                          <a:latin typeface="Noto Sans KR"/>
                          <a:ea typeface="Noto Sans KR"/>
                          <a:cs typeface="Noto Sans KR"/>
                        </a:rPr>
                        <a:t>2026.11.15</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경찰 현장 인터뷰 5건, 수요 우선순위 확정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1" i="0" lang="ko-KR">
                          <a:solidFill>
                            <a:srgbClr val="222222"/>
                          </a:solidFill>
                          <a:latin typeface="Noto Sans KR"/>
                          <a:ea typeface="Noto Sans KR"/>
                          <a:cs typeface="Noto Sans KR"/>
                        </a:rPr>
                        <a:t>2026.11.30</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구매동의서 협의 개시(후보 3곳)</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1" i="0" lang="ko-KR">
                          <a:solidFill>
                            <a:srgbClr val="222222"/>
                          </a:solidFill>
                          <a:latin typeface="Noto Sans KR"/>
                          <a:ea typeface="Noto Sans KR"/>
                          <a:cs typeface="Noto Sans KR"/>
                        </a:rPr>
                        <a:t>2026.12.15</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해외 특허 FTO, 당사 특허 2건 출원 준비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1" i="0" lang="ko-KR">
                          <a:solidFill>
                            <a:srgbClr val="222222"/>
                          </a:solidFill>
                          <a:latin typeface="Noto Sans KR"/>
                          <a:ea typeface="Noto Sans KR"/>
                          <a:cs typeface="Noto Sans KR"/>
                        </a:rPr>
                        <a:t>2026.12.15</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경광등 제조사 2곳 협의, 확약서 1건</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1" i="0" lang="ko-KR">
                          <a:solidFill>
                            <a:srgbClr val="222222"/>
                          </a:solidFill>
                          <a:latin typeface="Noto Sans KR"/>
                          <a:ea typeface="Noto Sans KR"/>
                          <a:cs typeface="Noto Sans KR"/>
                        </a:rPr>
                        <a:t>2026.12.31</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과제 기획서 완성, 개념 시제품 1대와 알고리즘 검증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40000">
                <a:tc>
                  <a:txBody>
                    <a:bodyPr wrap="square"/>
                    <a:lstStyle/>
                    <a:p>
                      <a:r>
                        <a:rPr sz="1200" b="1" i="0" lang="ko-KR">
                          <a:solidFill>
                            <a:srgbClr val="222222"/>
                          </a:solidFill>
                          <a:latin typeface="Noto Sans KR"/>
                          <a:ea typeface="Noto Sans KR"/>
                          <a:cs typeface="Noto Sans KR"/>
                        </a:rPr>
                        <a:t>2026.12.31</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경찰청 경광등·단속장비 규격서 입수, KPEX 부스 신청</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근거 수준과 확인이 필요한 사항</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제출 전에 원문과 대조해야 하는 항목을 구분했다</a:t>
            </a:r>
          </a:p>
        </p:txBody>
      </p:sp>
      <p:graphicFrame>
        <p:nvGraphicFramePr>
          <p:cNvPr id="4" name="Table 3"/>
          <p:cNvGraphicFramePr>
            <a:graphicFrameLocks noGrp="1"/>
          </p:cNvGraphicFramePr>
          <p:nvPr/>
        </p:nvGraphicFramePr>
        <p:xfrm>
          <a:off x="365760" y="1200000"/>
          <a:ext cx="11460480" cy="4800000"/>
        </p:xfrm>
        <a:graphic>
          <a:graphicData uri="http://schemas.openxmlformats.org/drawingml/2006/table">
            <a:tbl>
              <a:tblPr/>
              <a:tblGrid>
                <a:gridCol w="2500000"/>
                <a:gridCol w="4800000"/>
                <a:gridCol w="4160480"/>
              </a:tblGrid>
              <a:tr h="600000">
                <a:tc>
                  <a:txBody>
                    <a:bodyPr wrap="square"/>
                    <a:lstStyle/>
                    <a:p>
                      <a:r>
                        <a:rPr sz="1200" b="1" i="0" lang="ko-KR">
                          <a:solidFill>
                            <a:srgbClr val="FFFFFF"/>
                          </a:solidFill>
                          <a:latin typeface="Noto Sans KR"/>
                          <a:ea typeface="Noto Sans KR"/>
                          <a:cs typeface="Noto Sans KR"/>
                        </a:rPr>
                        <a:t>항목</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00" b="1" i="0" lang="ko-KR">
                          <a:solidFill>
                            <a:srgbClr val="FFFFFF"/>
                          </a:solidFill>
                          <a:latin typeface="Noto Sans KR"/>
                          <a:ea typeface="Noto Sans KR"/>
                          <a:cs typeface="Noto Sans KR"/>
                        </a:rPr>
                        <a:t>현재 상태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c>
                  <a:txBody>
                    <a:bodyPr wrap="square"/>
                    <a:lstStyle/>
                    <a:p>
                      <a:r>
                        <a:rPr sz="1200" b="1" i="0" lang="ko-KR">
                          <a:solidFill>
                            <a:srgbClr val="FFFFFF"/>
                          </a:solidFill>
                          <a:latin typeface="Noto Sans KR"/>
                          <a:ea typeface="Noto Sans KR"/>
                          <a:cs typeface="Noto Sans KR"/>
                        </a:rPr>
                        <a:t>필요한 조치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1F3A93"/>
                    </a:solidFill>
                  </a:tcPr>
                </a:tc>
              </a:tr>
              <a:tr h="600000">
                <a:tc>
                  <a:txBody>
                    <a:bodyPr wrap="square"/>
                    <a:lstStyle/>
                    <a:p>
                      <a:r>
                        <a:rPr sz="1200" b="1" i="0" lang="ko-KR">
                          <a:solidFill>
                            <a:srgbClr val="222222"/>
                          </a:solidFill>
                          <a:latin typeface="Noto Sans KR"/>
                          <a:ea typeface="Noto Sans KR"/>
                          <a:cs typeface="Noto Sans KR"/>
                        </a:rPr>
                        <a:t>과제 금액·일정·요건</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공고 원문 미확인, 검색 요약 기준(구매연계형 3차 6/15~6/29, 조달청 5/18~6/10은 요약끼리 일치)</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공고 원문과 대조, 지정 서식으로 이전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00" b="1" i="0" lang="ko-KR">
                          <a:solidFill>
                            <a:srgbClr val="222222"/>
                          </a:solidFill>
                          <a:latin typeface="Noto Sans KR"/>
                          <a:ea typeface="Noto Sans KR"/>
                          <a:cs typeface="Noto Sans KR"/>
                        </a:rPr>
                        <a:t>조달청 지정 수요</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12개 지정 수요 중 1개 선택, 경광등 관련 수요 미확인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수요 목록 확인, 없으면 기본안에서 제외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00" b="1" i="0" lang="ko-KR">
                          <a:solidFill>
                            <a:srgbClr val="222222"/>
                          </a:solidFill>
                          <a:latin typeface="Noto Sans KR"/>
                          <a:ea typeface="Noto Sans KR"/>
                          <a:cs typeface="Noto Sans KR"/>
                        </a:rPr>
                        <a:t>접수 중인 과제</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2026.10.6 기준 해당 과제 미확인, 다음 창구는 2027 상반기로 추정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공고 모니터링, 수요처 구매동의서 선행 확보</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00" b="1" i="0" lang="ko-KR">
                          <a:solidFill>
                            <a:srgbClr val="222222"/>
                          </a:solidFill>
                          <a:latin typeface="Noto Sans KR"/>
                          <a:ea typeface="Noto Sans KR"/>
                          <a:cs typeface="Noto Sans KR"/>
                        </a:rPr>
                        <a:t>시장 규모·재무</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당사 가정(순찰차 경광등 연 1,000~1,200대, 단가 600만 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경찰청 연간 물량·직납 단가 확인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00" b="1" i="0" lang="ko-KR">
                          <a:solidFill>
                            <a:srgbClr val="222222"/>
                          </a:solidFill>
                          <a:latin typeface="Noto Sans KR"/>
                          <a:ea typeface="Noto Sans KR"/>
                          <a:cs typeface="Noto Sans KR"/>
                        </a:rPr>
                        <a:t>개발 사양</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기존 레이더 규격 기반 초안, 주행 중 성능 미검증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개념 시제품 실측 후 지표 확정</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00" b="1" i="0" lang="ko-KR">
                          <a:solidFill>
                            <a:srgbClr val="222222"/>
                          </a:solidFill>
                          <a:latin typeface="Noto Sans KR"/>
                          <a:ea typeface="Noto Sans KR"/>
                          <a:cs typeface="Noto Sans KR"/>
                        </a:rPr>
                        <a:t>경찰관 선호도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설문 자료 없음, 필요 근거만 확인</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사전 인터뷰와 실증 설문으로 검증</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r h="600000">
                <a:tc>
                  <a:txBody>
                    <a:bodyPr wrap="square"/>
                    <a:lstStyle/>
                    <a:p>
                      <a:r>
                        <a:rPr sz="1200" b="1" i="0" lang="ko-KR">
                          <a:solidFill>
                            <a:srgbClr val="222222"/>
                          </a:solidFill>
                          <a:latin typeface="Noto Sans KR"/>
                          <a:ea typeface="Noto Sans KR"/>
                          <a:cs typeface="Noto Sans KR"/>
                        </a:rPr>
                        <a:t>보도 수치·사실 관계</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탑재형 단속 시기·대수, 경찰관 피해 수치, 경광등 납품사, 해외 특허 한국 출원</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c>
                  <a:txBody>
                    <a:bodyPr wrap="square"/>
                    <a:lstStyle/>
                    <a:p>
                      <a:r>
                        <a:rPr sz="1200" b="0" i="0" lang="ko-KR">
                          <a:solidFill>
                            <a:srgbClr val="222222"/>
                          </a:solidFill>
                          <a:latin typeface="Noto Sans KR"/>
                          <a:ea typeface="Noto Sans KR"/>
                          <a:cs typeface="Noto Sans KR"/>
                        </a:rPr>
                        <a:t>원문 대조, 경찰청 확인, 변리사 검토</a:t>
                      </a:r>
                    </a:p>
                  </a:txBody>
                  <a:tcPr marL="70000" marR="70000" marT="40000" marB="40000" anchor="ctr">
                    <a:lnL w="6350" cap="flat" cmpd="sng">
                      <a:solidFill>
                        <a:srgbClr val="BFBFBF"/>
                      </a:solidFill>
                    </a:lnL>
                    <a:lnR w="6350" cap="flat" cmpd="sng">
                      <a:solidFill>
                        <a:srgbClr val="BFBFBF"/>
                      </a:solidFill>
                    </a:lnR>
                    <a:lnT w="6350" cap="flat" cmpd="sng">
                      <a:solidFill>
                        <a:srgbClr val="BFBFBF"/>
                      </a:solidFill>
                    </a:lnT>
                    <a:lnB w="6350" cap="flat" cmpd="sng">
                      <a:solidFill>
                        <a:srgbClr val="BFBFBF"/>
                      </a:solidFill>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b="1" i="0" lang="ko-KR">
                <a:solidFill>
                  <a:srgbClr val="222222"/>
                </a:solidFill>
                <a:latin typeface="Noto Sans KR"/>
                <a:ea typeface="Noto Sans KR"/>
                <a:cs typeface="Noto Sans KR"/>
              </a:rPr>
              <a:t>출처</a:t>
            </a:r>
          </a:p>
        </p:txBody>
      </p:sp>
      <p:sp>
        <p:nvSpPr>
          <p:cNvPr id="3" name="TextBox 2"/>
          <p:cNvSpPr txBox="1"/>
          <p:nvPr/>
        </p:nvSpPr>
        <p:spPr>
          <a:xfrm>
            <a:off x="365760" y="640000"/>
            <a:ext cx="11460480" cy="420000"/>
          </a:xfrm>
          <a:prstGeom prst="rect">
            <a:avLst/>
          </a:prstGeom>
          <a:noFill/>
        </p:spPr>
        <p:txBody>
          <a:bodyPr wrap="square" lIns="0" rIns="0" tIns="0" bIns="0" anchor="ctr">
            <a:noAutofit/>
          </a:bodyPr>
          <a:lstStyle/>
          <a:p>
            <a:pPr>
              <a:spcAft>
                <a:spcPts val="400"/>
              </a:spcAft>
            </a:pPr>
            <a:r>
              <a:rPr sz="1600" b="1" i="0" lang="ko-KR">
                <a:solidFill>
                  <a:srgbClr val="1F3A93"/>
                </a:solidFill>
                <a:latin typeface="Noto Sans KR"/>
                <a:ea typeface="Noto Sans KR"/>
                <a:cs typeface="Noto Sans KR"/>
              </a:rPr>
              <a:t>외부 자료는 2026.10.6 웹 검색 기준이며 원문 대조가 필요하다</a:t>
            </a:r>
          </a:p>
        </p:txBody>
      </p:sp>
      <p:sp>
        <p:nvSpPr>
          <p:cNvPr id="4" name="TextBox 3"/>
          <p:cNvSpPr txBox="1"/>
          <p:nvPr/>
        </p:nvSpPr>
        <p:spPr>
          <a:xfrm>
            <a:off x="365760" y="1200000"/>
            <a:ext cx="5800000" cy="5000000"/>
          </a:xfrm>
          <a:prstGeom prst="rect">
            <a:avLst/>
          </a:prstGeom>
          <a:noFill/>
        </p:spPr>
        <p:txBody>
          <a:bodyPr wrap="square" lIns="0" rIns="0" tIns="0" bIns="0" anchor="t">
            <a:noAutofit/>
          </a:bodyPr>
          <a:lstStyle/>
          <a:p>
            <a:pPr>
              <a:spcAft>
                <a:spcPts val="600"/>
              </a:spcAft>
            </a:pPr>
            <a:r>
              <a:rPr sz="1200" b="1" i="0" lang="ko-KR">
                <a:solidFill>
                  <a:srgbClr val="1F3A93"/>
                </a:solidFill>
                <a:latin typeface="Noto Sans KR"/>
                <a:ea typeface="Noto Sans KR"/>
                <a:cs typeface="Noto Sans KR"/>
              </a:rPr>
              <a:t>경찰관 피해·치사율</a:t>
            </a:r>
          </a:p>
          <a:p>
            <a:pPr>
              <a:spcAft>
                <a:spcPts val="600"/>
              </a:spcAft>
            </a:pPr>
            <a:r>
              <a:rPr sz="1100" b="0" i="0" lang="ko-KR">
                <a:solidFill>
                  <a:srgbClr val="222222"/>
                </a:solidFill>
                <a:latin typeface="Noto Sans KR"/>
                <a:ea typeface="Noto Sans KR"/>
                <a:cs typeface="Noto Sans KR"/>
              </a:rPr>
              <a:t>네이트뉴스 2026.1.10  m.news.nate.com/view/20260110n04374</a:t>
            </a:r>
          </a:p>
          <a:p>
            <a:pPr>
              <a:spcAft>
                <a:spcPts val="600"/>
              </a:spcAft>
            </a:pPr>
            <a:r>
              <a:rPr sz="1100" b="0" i="0" lang="ko-KR">
                <a:solidFill>
                  <a:srgbClr val="222222"/>
                </a:solidFill>
                <a:latin typeface="Noto Sans KR"/>
                <a:ea typeface="Noto Sans KR"/>
                <a:cs typeface="Noto Sans KR"/>
              </a:rPr>
              <a:t>네이트뉴스 2026.1.4  news.nate.com/view/20260104n08943</a:t>
            </a:r>
          </a:p>
          <a:p>
            <a:pPr>
              <a:spcAft>
                <a:spcPts val="600"/>
              </a:spcAft>
            </a:pPr>
            <a:r>
              <a:rPr sz="1100" b="0" i="0" lang="ko-KR">
                <a:solidFill>
                  <a:srgbClr val="222222"/>
                </a:solidFill>
                <a:latin typeface="Noto Sans KR"/>
                <a:ea typeface="Noto Sans KR"/>
                <a:cs typeface="Noto Sans KR"/>
              </a:rPr>
              <a:t>전북일보 2025.9.1  jjan.kr/articleAmp/20250901580341</a:t>
            </a:r>
          </a:p>
          <a:p>
            <a:pPr>
              <a:spcAft>
                <a:spcPts val="600"/>
              </a:spcAft>
            </a:pPr>
            <a:r>
              <a:rPr sz="1100" b="0" i="0" lang="ko-KR">
                <a:solidFill>
                  <a:srgbClr val="222222"/>
                </a:solidFill>
                <a:latin typeface="Noto Sans KR"/>
                <a:ea typeface="Noto Sans KR"/>
                <a:cs typeface="Noto Sans KR"/>
              </a:rPr>
              <a:t>YTN 2026.7.9  ytn.co.kr/_ln/0115_202607091511331613</a:t>
            </a:r>
          </a:p>
          <a:p>
            <a:pPr>
              <a:spcAft>
                <a:spcPts val="600"/>
              </a:spcAft>
            </a:pPr>
            <a:r>
              <a:rPr sz="1100" b="0" i="0" lang="ko-KR">
                <a:solidFill>
                  <a:srgbClr val="222222"/>
                </a:solidFill>
                <a:latin typeface="Noto Sans KR"/>
                <a:ea typeface="Noto Sans KR"/>
                <a:cs typeface="Noto Sans KR"/>
              </a:rPr>
              <a:t>파이낸셜뉴스 2026.6.24  fnnews.com/news/202606241046506951</a:t>
            </a:r>
          </a:p>
          <a:p>
            <a:pPr>
              <a:spcAft>
                <a:spcPts val="600"/>
              </a:spcAft>
            </a:pPr>
            <a:r>
              <a:rPr sz="1100" b="0" i="0" lang="ko-KR">
                <a:solidFill>
                  <a:srgbClr val="222222"/>
                </a:solidFill>
                <a:latin typeface="Noto Sans KR"/>
                <a:ea typeface="Noto Sans KR"/>
                <a:cs typeface="Noto Sans KR"/>
              </a:rPr>
              <a:t>다음뉴스 2026.8.9  v.daum.net/v/20260809060311674</a:t>
            </a:r>
          </a:p>
          <a:p>
            <a:pPr>
              <a:spcAft>
                <a:spcPts val="600"/>
              </a:spcAft>
            </a:pPr>
            <a:r>
              <a:rPr sz="1200" b="1" i="0" lang="ko-KR">
                <a:solidFill>
                  <a:srgbClr val="1F3A93"/>
                </a:solidFill>
                <a:latin typeface="Noto Sans KR"/>
                <a:ea typeface="Noto Sans KR"/>
                <a:cs typeface="Noto Sans KR"/>
              </a:rPr>
              <a:t>리프트 경광등·탑재형 단속</a:t>
            </a:r>
          </a:p>
          <a:p>
            <a:pPr>
              <a:spcAft>
                <a:spcPts val="600"/>
              </a:spcAft>
            </a:pPr>
            <a:r>
              <a:rPr sz="1100" b="0" i="0" lang="ko-KR">
                <a:solidFill>
                  <a:srgbClr val="222222"/>
                </a:solidFill>
                <a:latin typeface="Noto Sans KR"/>
                <a:ea typeface="Noto Sans KR"/>
                <a:cs typeface="Noto Sans KR"/>
              </a:rPr>
              <a:t>머니투데이 2015.2.12  news.mt.co.kr/mtview.php?no=2015021210368283643</a:t>
            </a:r>
          </a:p>
          <a:p>
            <a:pPr>
              <a:spcAft>
                <a:spcPts val="600"/>
              </a:spcAft>
            </a:pPr>
            <a:r>
              <a:rPr sz="1100" b="0" i="0" lang="ko-KR">
                <a:solidFill>
                  <a:srgbClr val="222222"/>
                </a:solidFill>
                <a:latin typeface="Noto Sans KR"/>
                <a:ea typeface="Noto Sans KR"/>
                <a:cs typeface="Noto Sans KR"/>
              </a:rPr>
              <a:t>한국일보 2015.2.11  hankookilbo.com/news/article/201502111688050661</a:t>
            </a:r>
          </a:p>
          <a:p>
            <a:pPr>
              <a:spcAft>
                <a:spcPts val="600"/>
              </a:spcAft>
            </a:pPr>
            <a:r>
              <a:rPr sz="1100" b="0" i="0" lang="ko-KR">
                <a:solidFill>
                  <a:srgbClr val="222222"/>
                </a:solidFill>
                <a:latin typeface="Noto Sans KR"/>
                <a:ea typeface="Noto Sans KR"/>
                <a:cs typeface="Noto Sans KR"/>
              </a:rPr>
              <a:t>충청투데이  cctoday.co.kr/news/articleView.html?idxno=854746</a:t>
            </a:r>
          </a:p>
          <a:p>
            <a:pPr>
              <a:spcAft>
                <a:spcPts val="600"/>
              </a:spcAft>
            </a:pPr>
            <a:r>
              <a:rPr sz="1100" b="0" i="0" lang="ko-KR">
                <a:solidFill>
                  <a:srgbClr val="222222"/>
                </a:solidFill>
                <a:latin typeface="Noto Sans KR"/>
                <a:ea typeface="Noto Sans KR"/>
                <a:cs typeface="Noto Sans KR"/>
              </a:rPr>
              <a:t>경향신문 2022.3.3  khan.co.kr/article/202203031434001</a:t>
            </a:r>
          </a:p>
        </p:txBody>
      </p:sp>
      <p:sp>
        <p:nvSpPr>
          <p:cNvPr id="5" name="TextBox 4"/>
          <p:cNvSpPr txBox="1"/>
          <p:nvPr/>
        </p:nvSpPr>
        <p:spPr>
          <a:xfrm>
            <a:off x="6300000" y="1200000"/>
            <a:ext cx="5526240" cy="5000000"/>
          </a:xfrm>
          <a:prstGeom prst="rect">
            <a:avLst/>
          </a:prstGeom>
          <a:noFill/>
        </p:spPr>
        <p:txBody>
          <a:bodyPr wrap="square" lIns="0" rIns="0" tIns="0" bIns="0" anchor="t">
            <a:noAutofit/>
          </a:bodyPr>
          <a:lstStyle/>
          <a:p>
            <a:pPr>
              <a:spcAft>
                <a:spcPts val="600"/>
              </a:spcAft>
            </a:pPr>
            <a:r>
              <a:rPr sz="1200" b="1" i="0" lang="ko-KR">
                <a:solidFill>
                  <a:srgbClr val="1F3A93"/>
                </a:solidFill>
                <a:latin typeface="Noto Sans KR"/>
                <a:ea typeface="Noto Sans KR"/>
                <a:cs typeface="Noto Sans KR"/>
              </a:rPr>
              <a:t>해외·정책·내부 자료</a:t>
            </a:r>
          </a:p>
          <a:p>
            <a:pPr>
              <a:spcAft>
                <a:spcPts val="600"/>
              </a:spcAft>
            </a:pPr>
            <a:r>
              <a:rPr sz="1100" b="0" i="0" lang="ko-KR">
                <a:solidFill>
                  <a:srgbClr val="222222"/>
                </a:solidFill>
                <a:latin typeface="Noto Sans KR"/>
                <a:ea typeface="Noto Sans KR"/>
                <a:cs typeface="Noto Sans KR"/>
              </a:rPr>
              <a:t>미국 NIJ 보고서  ojp.gov/pdffiles1/nij/252032.pdf</a:t>
            </a:r>
          </a:p>
          <a:p>
            <a:pPr>
              <a:spcAft>
                <a:spcPts val="600"/>
              </a:spcAft>
            </a:pPr>
            <a:r>
              <a:rPr sz="1100" b="0" i="0" lang="ko-KR">
                <a:solidFill>
                  <a:srgbClr val="222222"/>
                </a:solidFill>
                <a:latin typeface="Noto Sans KR"/>
                <a:ea typeface="Noto Sans KR"/>
                <a:cs typeface="Noto Sans KR"/>
              </a:rPr>
              <a:t>NIOSH  cdc.gov/niosh/newsroom/feature/struck-by.html</a:t>
            </a:r>
          </a:p>
          <a:p>
            <a:pPr>
              <a:spcAft>
                <a:spcPts val="600"/>
              </a:spcAft>
            </a:pPr>
            <a:r>
              <a:rPr sz="1100" b="0" i="0" lang="ko-KR">
                <a:solidFill>
                  <a:srgbClr val="222222"/>
                </a:solidFill>
                <a:latin typeface="Noto Sans KR"/>
                <a:ea typeface="Noto Sans KR"/>
                <a:cs typeface="Noto Sans KR"/>
              </a:rPr>
              <a:t>경찰청 K-치안산업 100 (2024.6)</a:t>
            </a:r>
          </a:p>
          <a:p>
            <a:pPr>
              <a:spcAft>
                <a:spcPts val="600"/>
              </a:spcAft>
            </a:pPr>
            <a:r>
              <a:rPr sz="1100" b="0" i="0" lang="ko-KR">
                <a:solidFill>
                  <a:srgbClr val="222222"/>
                </a:solidFill>
                <a:latin typeface="Noto Sans KR"/>
                <a:ea typeface="Noto Sans KR"/>
                <a:cs typeface="Noto Sans KR"/>
              </a:rPr>
              <a:t>특허 도면: US9002313B2, US9791766B2, US10946793B1, US9928737B2 (엠클라비스 특허 조사 2026.4)</a:t>
            </a:r>
          </a:p>
          <a:p>
            <a:pPr>
              <a:spcAft>
                <a:spcPts val="600"/>
              </a:spcAft>
            </a:pPr>
            <a:r>
              <a:rPr sz="1100" b="0" i="0" lang="ko-KR">
                <a:solidFill>
                  <a:srgbClr val="222222"/>
                </a:solidFill>
                <a:latin typeface="Noto Sans KR"/>
                <a:ea typeface="Noto Sans KR"/>
                <a:cs typeface="Noto Sans KR"/>
              </a:rPr>
              <a:t>경찰청 종합쇼핑몰 납품요구 물품 내역 (2024)</a:t>
            </a:r>
          </a:p>
          <a:p>
            <a:pPr>
              <a:spcAft>
                <a:spcPts val="600"/>
              </a:spcAft>
            </a:pPr>
            <a:r>
              <a:rPr sz="1100" b="0" i="0" lang="ko-KR">
                <a:solidFill>
                  <a:srgbClr val="222222"/>
                </a:solidFill>
                <a:latin typeface="Noto Sans KR"/>
                <a:ea typeface="Noto Sans KR"/>
                <a:cs typeface="Noto Sans KR"/>
              </a:rPr>
              <a:t>엠클라비스 5사 경광등 비교표 (2025.10.31)</a:t>
            </a:r>
          </a:p>
          <a:p>
            <a:pPr>
              <a:spcAft>
                <a:spcPts val="600"/>
              </a:spcAft>
            </a:pPr>
            <a:r>
              <a:rPr sz="1100" b="0" i="0" lang="ko-KR">
                <a:solidFill>
                  <a:srgbClr val="222222"/>
                </a:solidFill>
                <a:latin typeface="Noto Sans KR"/>
                <a:ea typeface="Noto Sans KR"/>
                <a:cs typeface="Noto Sans KR"/>
              </a:rPr>
              <a:t>엠클라비스 경광등 관련 전세계 동향 (2025.10.31)</a:t>
            </a:r>
          </a:p>
          <a:p>
            <a:pPr>
              <a:spcAft>
                <a:spcPts val="600"/>
              </a:spcAft>
            </a:pPr>
            <a:r>
              <a:rPr sz="1100" b="0" i="0" lang="ko-KR">
                <a:solidFill>
                  <a:srgbClr val="222222"/>
                </a:solidFill>
                <a:latin typeface="Noto Sans KR"/>
                <a:ea typeface="Noto Sans KR"/>
                <a:cs typeface="Noto Sans KR"/>
              </a:rPr>
              <a:t>엠클라비스 경광등 관련 특허 조사 (2026.4)</a:t>
            </a:r>
          </a:p>
          <a:p>
            <a:pPr>
              <a:spcAft>
                <a:spcPts val="600"/>
              </a:spcAft>
            </a:pPr>
            <a:r>
              <a:rPr sz="1100" b="0" i="0" lang="ko-KR">
                <a:solidFill>
                  <a:srgbClr val="222222"/>
                </a:solidFill>
                <a:latin typeface="Noto Sans KR"/>
                <a:ea typeface="Noto Sans KR"/>
                <a:cs typeface="Noto Sans KR"/>
              </a:rPr>
              <a:t>엠클라비스 MCRT-100N·100R 소개서, 2026 ITS 세계총회 출품 자료</a:t>
            </a:r>
          </a:p>
          <a:p>
            <a:pPr>
              <a:spcAft>
                <a:spcPts val="600"/>
              </a:spcAft>
            </a:pPr>
            <a:r>
              <a:rPr sz="1100" b="0" i="0" lang="ko-KR">
                <a:solidFill>
                  <a:srgbClr val="222222"/>
                </a:solidFill>
                <a:latin typeface="Noto Sans KR"/>
                <a:ea typeface="Noto Sans KR"/>
                <a:cs typeface="Noto Sans KR"/>
              </a:rPr>
              <a:t>공고 정보: 중기부 2026 기술개발 지원사업 통합공고, 과학치안진흥센터 2026 신규사업 공고, 조달청 2026 혁신제품 기술개발 공고 (검색 요약 기준)</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09C0803-4A15-450E-B222-DFD3CCBE1314}">
  <we:reference id="wa200000113" version="1.0.0.0" store="ko-KR" storeType="OMEX"/>
  <we:alternateReferences>
    <we:reference id="WA200000113" version="1.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5636</TotalTime>
  <Words>4</Words>
  <Application>Microsoft Office PowerPoint</Application>
  <PresentationFormat>와이드스크린</PresentationFormat>
  <Paragraphs>4</Paragraphs>
  <Slides>2</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vt:i4>
      </vt:variant>
    </vt:vector>
  </HeadingPairs>
  <TitlesOfParts>
    <vt:vector size="7" baseType="lpstr">
      <vt:lpstr>굴림</vt:lpstr>
      <vt:lpstr>맑은 고딕</vt:lpstr>
      <vt:lpstr>휴먼옛체</vt:lpstr>
      <vt:lpstr>Arial</vt:lpstr>
      <vt:lpstr>Office 테마</vt:lpstr>
      <vt:lpstr>PowerPoint 프레젠테이션</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MClavis_Oh Junnam</dc:creator>
  <cp:lastModifiedBy>junnam oh</cp:lastModifiedBy>
  <cp:revision>186</cp:revision>
  <cp:lastPrinted>2020-03-02T00:58:11Z</cp:lastPrinted>
  <dcterms:created xsi:type="dcterms:W3CDTF">2017-01-02T05:38:52Z</dcterms:created>
  <dcterms:modified xsi:type="dcterms:W3CDTF">2025-01-19T07:32:17Z</dcterms:modified>
</cp:coreProperties>
</file>